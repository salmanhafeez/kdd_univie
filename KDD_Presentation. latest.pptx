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67" r:id="rId5"/>
    <p:sldId id="259" r:id="rId6"/>
    <p:sldId id="260" r:id="rId7"/>
    <p:sldId id="261" r:id="rId8"/>
    <p:sldId id="262" r:id="rId9"/>
    <p:sldId id="263" r:id="rId10"/>
    <p:sldId id="264" r:id="rId11"/>
    <p:sldId id="265" r:id="rId12"/>
    <p:sldId id="266"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990673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6DCC3-EA4F-5333-1842-503C937FE6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29C08A-FEF5-D3F1-D30D-3A33A414E3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1BE083-7F01-260F-0E68-5AD9D9E2C6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C984979-9A3F-8C8F-6419-6846629F12A6}"/>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5080050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5C"/>
        </a:solidFill>
        <a:effectLst/>
      </p:bgPr>
    </p:bg>
    <p:spTree>
      <p:nvGrpSpPr>
        <p:cNvPr id="1" name=""/>
        <p:cNvGrpSpPr/>
        <p:nvPr/>
      </p:nvGrpSpPr>
      <p:grpSpPr>
        <a:xfrm>
          <a:off x="0" y="0"/>
          <a:ext cx="0" cy="0"/>
          <a:chOff x="0" y="0"/>
          <a:chExt cx="0" cy="0"/>
        </a:xfrm>
      </p:grpSpPr>
      <p:sp>
        <p:nvSpPr>
          <p:cNvPr id="2" name="Text 0"/>
          <p:cNvSpPr/>
          <p:nvPr/>
        </p:nvSpPr>
        <p:spPr>
          <a:xfrm>
            <a:off x="731520" y="1097280"/>
            <a:ext cx="7680960" cy="1645920"/>
          </a:xfrm>
          <a:prstGeom prst="rect">
            <a:avLst/>
          </a:prstGeom>
          <a:noFill/>
          <a:ln/>
        </p:spPr>
        <p:txBody>
          <a:bodyPr wrap="square" rtlCol="0" anchor="ctr"/>
          <a:lstStyle/>
          <a:p>
            <a:pPr marL="0" indent="0">
              <a:lnSpc>
                <a:spcPct val="120000"/>
              </a:lnSpc>
              <a:buNone/>
            </a:pPr>
            <a:r>
              <a:rPr lang="en-US" sz="3600" b="1" dirty="0">
                <a:solidFill>
                  <a:srgbClr val="FFFFFF"/>
                </a:solidFill>
                <a:latin typeface="Arial" pitchFamily="34" charset="0"/>
                <a:ea typeface="Arial" pitchFamily="34" charset="-122"/>
                <a:cs typeface="Arial" pitchFamily="34" charset="-120"/>
              </a:rPr>
              <a:t>Leveraging Clustering for</a:t>
            </a:r>
            <a:endParaRPr lang="en-US" sz="3600" dirty="0"/>
          </a:p>
          <a:p>
            <a:pPr marL="0" indent="0">
              <a:lnSpc>
                <a:spcPct val="120000"/>
              </a:lnSpc>
              <a:buNone/>
            </a:pPr>
            <a:r>
              <a:rPr lang="en-US" sz="3600" b="1" dirty="0">
                <a:solidFill>
                  <a:srgbClr val="FFFFFF"/>
                </a:solidFill>
                <a:latin typeface="Arial" pitchFamily="34" charset="0"/>
                <a:ea typeface="Arial" pitchFamily="34" charset="-122"/>
                <a:cs typeface="Arial" pitchFamily="34" charset="-120"/>
              </a:rPr>
              <a:t>Large-Scale Time Series Forecasting</a:t>
            </a:r>
            <a:endParaRPr lang="en-US" sz="3600" dirty="0"/>
          </a:p>
        </p:txBody>
      </p:sp>
      <p:sp>
        <p:nvSpPr>
          <p:cNvPr id="3" name="Shape 1"/>
          <p:cNvSpPr/>
          <p:nvPr/>
        </p:nvSpPr>
        <p:spPr>
          <a:xfrm>
            <a:off x="731520" y="2926080"/>
            <a:ext cx="1828800" cy="36576"/>
          </a:xfrm>
          <a:prstGeom prst="rect">
            <a:avLst/>
          </a:prstGeom>
          <a:solidFill>
            <a:srgbClr val="2E75B6"/>
          </a:solidFill>
          <a:ln/>
        </p:spPr>
        <p:txBody>
          <a:bodyPr/>
          <a:lstStyle/>
          <a:p>
            <a:endParaRPr lang="en-US"/>
          </a:p>
        </p:txBody>
      </p:sp>
      <p:sp>
        <p:nvSpPr>
          <p:cNvPr id="4" name="Text 2"/>
          <p:cNvSpPr/>
          <p:nvPr/>
        </p:nvSpPr>
        <p:spPr>
          <a:xfrm>
            <a:off x="731520" y="3200400"/>
            <a:ext cx="7315200" cy="457200"/>
          </a:xfrm>
          <a:prstGeom prst="rect">
            <a:avLst/>
          </a:prstGeom>
          <a:noFill/>
          <a:ln/>
        </p:spPr>
        <p:txBody>
          <a:bodyPr wrap="square" rtlCol="0" anchor="ctr"/>
          <a:lstStyle/>
          <a:p>
            <a:pPr marL="0" indent="0">
              <a:buNone/>
            </a:pPr>
            <a:r>
              <a:rPr lang="en-US" sz="1600" dirty="0">
                <a:solidFill>
                  <a:srgbClr val="D6E4F0"/>
                </a:solidFill>
                <a:latin typeface="Arial" pitchFamily="34" charset="0"/>
                <a:ea typeface="Arial" pitchFamily="34" charset="-122"/>
                <a:cs typeface="Arial" pitchFamily="34" charset="-120"/>
              </a:rPr>
              <a:t>KDD SS 2026 — University of Vienna</a:t>
            </a:r>
            <a:endParaRPr lang="en-US" sz="1600" dirty="0"/>
          </a:p>
        </p:txBody>
      </p:sp>
      <p:sp>
        <p:nvSpPr>
          <p:cNvPr id="5" name="Text 3"/>
          <p:cNvSpPr/>
          <p:nvPr/>
        </p:nvSpPr>
        <p:spPr>
          <a:xfrm>
            <a:off x="731520" y="3840480"/>
            <a:ext cx="7315200" cy="365760"/>
          </a:xfrm>
          <a:prstGeom prst="rect">
            <a:avLst/>
          </a:prstGeom>
          <a:noFill/>
          <a:ln/>
        </p:spPr>
        <p:txBody>
          <a:bodyPr wrap="square" rtlCol="0" anchor="ctr"/>
          <a:lstStyle/>
          <a:p>
            <a:pPr marL="0" indent="0">
              <a:buNone/>
            </a:pPr>
            <a:r>
              <a:rPr lang="en-US" sz="1300" dirty="0">
                <a:solidFill>
                  <a:srgbClr val="AABBCC"/>
                </a:solidFill>
                <a:latin typeface="Arial" pitchFamily="34" charset="0"/>
                <a:ea typeface="Arial" pitchFamily="34" charset="-122"/>
                <a:cs typeface="Arial" pitchFamily="34" charset="-120"/>
              </a:rPr>
              <a:t>Muhammad Salman Hafeez  •  Mikhalchevskyi Yurii  •  Markschies Benjamin Max</a:t>
            </a:r>
            <a:endParaRPr lang="en-US" sz="1300" dirty="0"/>
          </a:p>
        </p:txBody>
      </p:sp>
      <p:sp>
        <p:nvSpPr>
          <p:cNvPr id="6" name="Text 4"/>
          <p:cNvSpPr/>
          <p:nvPr/>
        </p:nvSpPr>
        <p:spPr>
          <a:xfrm>
            <a:off x="731520" y="4389120"/>
            <a:ext cx="7315200" cy="274320"/>
          </a:xfrm>
          <a:prstGeom prst="rect">
            <a:avLst/>
          </a:prstGeom>
          <a:noFill/>
          <a:ln/>
        </p:spPr>
        <p:txBody>
          <a:bodyPr wrap="square" rtlCol="0" anchor="ctr"/>
          <a:lstStyle/>
          <a:p>
            <a:pPr marL="0" indent="0">
              <a:buNone/>
            </a:pPr>
            <a:r>
              <a:rPr lang="en-US" sz="1100" i="1" dirty="0">
                <a:solidFill>
                  <a:srgbClr val="8899AA"/>
                </a:solidFill>
                <a:latin typeface="Arial" pitchFamily="34" charset="0"/>
                <a:ea typeface="Arial" pitchFamily="34" charset="-122"/>
                <a:cs typeface="Arial" pitchFamily="34" charset="-120"/>
              </a:rPr>
              <a:t>Code: github.com/[team-repo]</a:t>
            </a:r>
            <a:endParaRPr lang="en-US" sz="1100" dirty="0"/>
          </a:p>
        </p:txBody>
      </p:sp>
      <p:pic>
        <p:nvPicPr>
          <p:cNvPr id="7" name="Picture 4" descr="Logos of the University of Vienna">
            <a:extLst>
              <a:ext uri="{FF2B5EF4-FFF2-40B4-BE49-F238E27FC236}">
                <a16:creationId xmlns:a16="http://schemas.microsoft.com/office/drawing/2014/main" id="{7959D7F0-6E37-BE0D-3BEC-3299D7535E4B}"/>
              </a:ext>
            </a:extLst>
          </p:cNvPr>
          <p:cNvPicPr>
            <a:picLocks noChangeAspect="1" noChangeArrowheads="1"/>
          </p:cNvPicPr>
          <p:nvPr/>
        </p:nvPicPr>
        <p:blipFill>
          <a:blip r:embed="rId3" cstate="print">
            <a:duotone>
              <a:schemeClr val="accent4">
                <a:shade val="45000"/>
                <a:satMod val="135000"/>
              </a:schemeClr>
              <a:prstClr val="white"/>
            </a:duotone>
            <a:extLst>
              <a:ext uri="{BEBA8EAE-BF5A-486C-A8C5-ECC9F3942E4B}">
                <a14:imgProps xmlns:a14="http://schemas.microsoft.com/office/drawing/2010/main">
                  <a14:imgLayer r:embed="rId4">
                    <a14:imgEffect>
                      <a14:sharpenSoften amount="50000"/>
                    </a14:imgEffect>
                    <a14:imgEffect>
                      <a14:saturation sat="33000"/>
                    </a14:imgEffect>
                    <a14:imgEffect>
                      <a14:brightnessContrast bright="-20000" contrast="40000"/>
                    </a14:imgEffect>
                  </a14:imgLayer>
                </a14:imgProps>
              </a:ext>
              <a:ext uri="{28A0092B-C50C-407E-A947-70E740481C1C}">
                <a14:useLocalDpi xmlns:a14="http://schemas.microsoft.com/office/drawing/2010/main" val="0"/>
              </a:ext>
            </a:extLst>
          </a:blip>
          <a:srcRect/>
          <a:stretch>
            <a:fillRect/>
          </a:stretch>
        </p:blipFill>
        <p:spPr bwMode="auto">
          <a:xfrm>
            <a:off x="7077612" y="0"/>
            <a:ext cx="2066388" cy="103319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5C"/>
          </a:solidFill>
          <a:ln/>
        </p:spPr>
        <p:txBody>
          <a:bodyPr/>
          <a:lstStyle/>
          <a:p>
            <a:endParaRPr lang="en-US"/>
          </a:p>
        </p:txBody>
      </p:sp>
      <p:sp>
        <p:nvSpPr>
          <p:cNvPr id="3" name="Text 1"/>
          <p:cNvSpPr/>
          <p:nvPr/>
        </p:nvSpPr>
        <p:spPr>
          <a:xfrm>
            <a:off x="548640" y="91440"/>
            <a:ext cx="8046720" cy="640080"/>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The Problem: 17,547 Households × 366 Days</a:t>
            </a:r>
            <a:endParaRPr lang="en-US" sz="2200" dirty="0"/>
          </a:p>
        </p:txBody>
      </p:sp>
      <p:sp>
        <p:nvSpPr>
          <p:cNvPr id="4" name="Text 2"/>
          <p:cNvSpPr/>
          <p:nvPr/>
        </p:nvSpPr>
        <p:spPr>
          <a:xfrm>
            <a:off x="457200" y="1005840"/>
            <a:ext cx="2286000" cy="640080"/>
          </a:xfrm>
          <a:prstGeom prst="rect">
            <a:avLst/>
          </a:prstGeom>
          <a:noFill/>
          <a:ln/>
        </p:spPr>
        <p:txBody>
          <a:bodyPr wrap="square" rtlCol="0" anchor="ctr"/>
          <a:lstStyle/>
          <a:p>
            <a:pPr marL="0" indent="0" algn="ctr">
              <a:buNone/>
            </a:pPr>
            <a:r>
              <a:rPr lang="en-US" sz="4000" b="1" dirty="0">
                <a:solidFill>
                  <a:srgbClr val="1B3A5C"/>
                </a:solidFill>
                <a:latin typeface="Arial" pitchFamily="34" charset="0"/>
                <a:ea typeface="Arial" pitchFamily="34" charset="-122"/>
                <a:cs typeface="Arial" pitchFamily="34" charset="-120"/>
              </a:rPr>
              <a:t>17,547</a:t>
            </a:r>
            <a:endParaRPr lang="en-US" sz="4000" dirty="0"/>
          </a:p>
        </p:txBody>
      </p:sp>
      <p:sp>
        <p:nvSpPr>
          <p:cNvPr id="5" name="Text 3"/>
          <p:cNvSpPr/>
          <p:nvPr/>
        </p:nvSpPr>
        <p:spPr>
          <a:xfrm>
            <a:off x="457200" y="1554480"/>
            <a:ext cx="2286000" cy="274320"/>
          </a:xfrm>
          <a:prstGeom prst="rect">
            <a:avLst/>
          </a:prstGeom>
          <a:noFill/>
          <a:ln/>
        </p:spPr>
        <p:txBody>
          <a:bodyPr wrap="square" rtlCol="0" anchor="ctr"/>
          <a:lstStyle/>
          <a:p>
            <a:pPr marL="0" indent="0" algn="ctr">
              <a:buNone/>
            </a:pPr>
            <a:r>
              <a:rPr lang="en-US" sz="1200" dirty="0">
                <a:solidFill>
                  <a:srgbClr val="666666"/>
                </a:solidFill>
                <a:latin typeface="Arial" pitchFamily="34" charset="0"/>
                <a:ea typeface="Arial" pitchFamily="34" charset="-122"/>
                <a:cs typeface="Arial" pitchFamily="34" charset="-120"/>
              </a:rPr>
              <a:t>households</a:t>
            </a:r>
            <a:endParaRPr lang="en-US" sz="1200" dirty="0"/>
          </a:p>
        </p:txBody>
      </p:sp>
      <p:sp>
        <p:nvSpPr>
          <p:cNvPr id="6" name="Text 4"/>
          <p:cNvSpPr/>
          <p:nvPr/>
        </p:nvSpPr>
        <p:spPr>
          <a:xfrm>
            <a:off x="2926080" y="1005840"/>
            <a:ext cx="2286000" cy="640080"/>
          </a:xfrm>
          <a:prstGeom prst="rect">
            <a:avLst/>
          </a:prstGeom>
          <a:noFill/>
          <a:ln/>
        </p:spPr>
        <p:txBody>
          <a:bodyPr wrap="square" rtlCol="0" anchor="ctr"/>
          <a:lstStyle/>
          <a:p>
            <a:pPr marL="0" indent="0" algn="ctr">
              <a:buNone/>
            </a:pPr>
            <a:r>
              <a:rPr lang="en-US" sz="3200" b="1" dirty="0">
                <a:solidFill>
                  <a:srgbClr val="1B3A5C"/>
                </a:solidFill>
                <a:latin typeface="Arial" pitchFamily="34" charset="0"/>
                <a:ea typeface="Arial" pitchFamily="34" charset="-122"/>
                <a:cs typeface="Arial" pitchFamily="34" charset="-120"/>
              </a:rPr>
              <a:t>365 → 366</a:t>
            </a:r>
            <a:endParaRPr lang="en-US" sz="3200" dirty="0"/>
          </a:p>
        </p:txBody>
      </p:sp>
      <p:sp>
        <p:nvSpPr>
          <p:cNvPr id="7" name="Text 5"/>
          <p:cNvSpPr/>
          <p:nvPr/>
        </p:nvSpPr>
        <p:spPr>
          <a:xfrm>
            <a:off x="2926080" y="1554480"/>
            <a:ext cx="2286000" cy="274320"/>
          </a:xfrm>
          <a:prstGeom prst="rect">
            <a:avLst/>
          </a:prstGeom>
          <a:noFill/>
          <a:ln/>
        </p:spPr>
        <p:txBody>
          <a:bodyPr wrap="square" rtlCol="0" anchor="ctr"/>
          <a:lstStyle/>
          <a:p>
            <a:pPr marL="0" indent="0" algn="ctr">
              <a:buNone/>
            </a:pPr>
            <a:r>
              <a:rPr lang="en-US" sz="1200" dirty="0">
                <a:solidFill>
                  <a:srgbClr val="666666"/>
                </a:solidFill>
                <a:latin typeface="Arial" pitchFamily="34" charset="0"/>
                <a:ea typeface="Arial" pitchFamily="34" charset="-122"/>
                <a:cs typeface="Arial" pitchFamily="34" charset="-120"/>
              </a:rPr>
              <a:t>train 2023 → predict 2024</a:t>
            </a:r>
            <a:endParaRPr lang="en-US" sz="1200" dirty="0"/>
          </a:p>
        </p:txBody>
      </p:sp>
      <p:sp>
        <p:nvSpPr>
          <p:cNvPr id="8" name="Text 6"/>
          <p:cNvSpPr/>
          <p:nvPr/>
        </p:nvSpPr>
        <p:spPr>
          <a:xfrm>
            <a:off x="5577840" y="1005840"/>
            <a:ext cx="1645920" cy="640080"/>
          </a:xfrm>
          <a:prstGeom prst="rect">
            <a:avLst/>
          </a:prstGeom>
          <a:noFill/>
          <a:ln/>
        </p:spPr>
        <p:txBody>
          <a:bodyPr wrap="square" rtlCol="0" anchor="ctr"/>
          <a:lstStyle/>
          <a:p>
            <a:pPr marL="0" indent="0" algn="ctr">
              <a:buNone/>
            </a:pPr>
            <a:r>
              <a:rPr lang="en-US" sz="4000" b="1" dirty="0">
                <a:solidFill>
                  <a:srgbClr val="E84855"/>
                </a:solidFill>
                <a:latin typeface="Arial" pitchFamily="34" charset="0"/>
                <a:ea typeface="Arial" pitchFamily="34" charset="-122"/>
                <a:cs typeface="Arial" pitchFamily="34" charset="-120"/>
              </a:rPr>
              <a:t>0</a:t>
            </a:r>
            <a:endParaRPr lang="en-US" sz="4000" dirty="0"/>
          </a:p>
        </p:txBody>
      </p:sp>
      <p:sp>
        <p:nvSpPr>
          <p:cNvPr id="9" name="Text 7"/>
          <p:cNvSpPr/>
          <p:nvPr/>
        </p:nvSpPr>
        <p:spPr>
          <a:xfrm>
            <a:off x="5577840" y="1554480"/>
            <a:ext cx="1645920" cy="274320"/>
          </a:xfrm>
          <a:prstGeom prst="rect">
            <a:avLst/>
          </a:prstGeom>
          <a:noFill/>
          <a:ln/>
        </p:spPr>
        <p:txBody>
          <a:bodyPr wrap="square" rtlCol="0" anchor="ctr"/>
          <a:lstStyle/>
          <a:p>
            <a:pPr marL="0" indent="0" algn="ctr">
              <a:buNone/>
            </a:pPr>
            <a:r>
              <a:rPr lang="en-US" sz="1200" dirty="0">
                <a:solidFill>
                  <a:srgbClr val="666666"/>
                </a:solidFill>
                <a:latin typeface="Arial" pitchFamily="34" charset="0"/>
                <a:ea typeface="Arial" pitchFamily="34" charset="-122"/>
                <a:cs typeface="Arial" pitchFamily="34" charset="-120"/>
              </a:rPr>
              <a:t>exogenous variables</a:t>
            </a:r>
            <a:endParaRPr lang="en-US" sz="1200" dirty="0"/>
          </a:p>
        </p:txBody>
      </p:sp>
      <p:sp>
        <p:nvSpPr>
          <p:cNvPr id="10" name="Text 8"/>
          <p:cNvSpPr/>
          <p:nvPr/>
        </p:nvSpPr>
        <p:spPr>
          <a:xfrm>
            <a:off x="7498080" y="1005840"/>
            <a:ext cx="1371600" cy="640080"/>
          </a:xfrm>
          <a:prstGeom prst="rect">
            <a:avLst/>
          </a:prstGeom>
          <a:noFill/>
          <a:ln/>
        </p:spPr>
        <p:txBody>
          <a:bodyPr wrap="square" rtlCol="0" anchor="ctr"/>
          <a:lstStyle/>
          <a:p>
            <a:pPr marL="0" indent="0" algn="ctr">
              <a:buNone/>
            </a:pPr>
            <a:r>
              <a:rPr lang="en-US" sz="3600" b="1" dirty="0">
                <a:solidFill>
                  <a:srgbClr val="2D936C"/>
                </a:solidFill>
                <a:latin typeface="Arial" pitchFamily="34" charset="0"/>
                <a:ea typeface="Arial" pitchFamily="34" charset="-122"/>
                <a:cs typeface="Arial" pitchFamily="34" charset="-120"/>
              </a:rPr>
              <a:t>MAE</a:t>
            </a:r>
            <a:endParaRPr lang="en-US" sz="3600" dirty="0"/>
          </a:p>
        </p:txBody>
      </p:sp>
      <p:sp>
        <p:nvSpPr>
          <p:cNvPr id="11" name="Text 9"/>
          <p:cNvSpPr/>
          <p:nvPr/>
        </p:nvSpPr>
        <p:spPr>
          <a:xfrm>
            <a:off x="7498080" y="1554480"/>
            <a:ext cx="1371600" cy="274320"/>
          </a:xfrm>
          <a:prstGeom prst="rect">
            <a:avLst/>
          </a:prstGeom>
          <a:noFill/>
          <a:ln/>
        </p:spPr>
        <p:txBody>
          <a:bodyPr wrap="square" rtlCol="0" anchor="ctr"/>
          <a:lstStyle/>
          <a:p>
            <a:pPr marL="0" indent="0" algn="ctr">
              <a:buNone/>
            </a:pPr>
            <a:r>
              <a:rPr lang="en-US" sz="1200" dirty="0">
                <a:solidFill>
                  <a:srgbClr val="666666"/>
                </a:solidFill>
                <a:latin typeface="Arial" pitchFamily="34" charset="0"/>
                <a:ea typeface="Arial" pitchFamily="34" charset="-122"/>
                <a:cs typeface="Arial" pitchFamily="34" charset="-120"/>
              </a:rPr>
              <a:t>evaluation metric</a:t>
            </a:r>
            <a:endParaRPr lang="en-US" sz="1200" dirty="0"/>
          </a:p>
        </p:txBody>
      </p:sp>
      <p:sp>
        <p:nvSpPr>
          <p:cNvPr id="12" name="Shape 10"/>
          <p:cNvSpPr/>
          <p:nvPr/>
        </p:nvSpPr>
        <p:spPr>
          <a:xfrm>
            <a:off x="457200" y="2011680"/>
            <a:ext cx="8229600" cy="27432"/>
          </a:xfrm>
          <a:prstGeom prst="rect">
            <a:avLst/>
          </a:prstGeom>
          <a:solidFill>
            <a:srgbClr val="D6E4F0"/>
          </a:solidFill>
          <a:ln/>
        </p:spPr>
        <p:txBody>
          <a:bodyPr/>
          <a:lstStyle/>
          <a:p>
            <a:endParaRPr lang="en-US"/>
          </a:p>
        </p:txBody>
      </p:sp>
      <p:sp>
        <p:nvSpPr>
          <p:cNvPr id="13" name="Text 11"/>
          <p:cNvSpPr/>
          <p:nvPr/>
        </p:nvSpPr>
        <p:spPr>
          <a:xfrm>
            <a:off x="548640" y="2194560"/>
            <a:ext cx="8046720" cy="2560320"/>
          </a:xfrm>
          <a:prstGeom prst="rect">
            <a:avLst/>
          </a:prstGeom>
          <a:noFill/>
          <a:ln/>
        </p:spPr>
        <p:txBody>
          <a:bodyPr wrap="square" rtlCol="0" anchor="t"/>
          <a:lstStyle/>
          <a:p>
            <a:pPr marL="342900" indent="-342900">
              <a:spcAft>
                <a:spcPts val="400"/>
              </a:spcAft>
              <a:buSzPct val="100000"/>
              <a:buChar char="•"/>
            </a:pPr>
            <a:r>
              <a:rPr lang="en-US" sz="1400" dirty="0">
                <a:solidFill>
                  <a:srgbClr val="1A1A1A"/>
                </a:solidFill>
                <a:latin typeface="Arial" pitchFamily="34" charset="0"/>
                <a:ea typeface="Arial" pitchFamily="34" charset="-122"/>
                <a:cs typeface="Arial" pitchFamily="34" charset="-120"/>
              </a:rPr>
              <a:t>Task: Predict daily energy consumption for every household for all of 2024</a:t>
            </a:r>
            <a:endParaRPr lang="en-US" sz="1400" dirty="0"/>
          </a:p>
          <a:p>
            <a:pPr marL="342900" indent="-342900">
              <a:spcAft>
                <a:spcPts val="400"/>
              </a:spcAft>
              <a:buSzPct val="100000"/>
              <a:buChar char="•"/>
            </a:pPr>
            <a:r>
              <a:rPr lang="en-US" sz="1400" dirty="0">
                <a:solidFill>
                  <a:srgbClr val="1A1A1A"/>
                </a:solidFill>
                <a:latin typeface="Arial" pitchFamily="34" charset="0"/>
                <a:ea typeface="Arial" pitchFamily="34" charset="-122"/>
                <a:cs typeface="Arial" pitchFamily="34" charset="-120"/>
              </a:rPr>
              <a:t>Only input: 2023 daily consumption (no weather, no demographics, no pricing)</a:t>
            </a:r>
            <a:endParaRPr lang="en-US" sz="1400" dirty="0"/>
          </a:p>
          <a:p>
            <a:pPr marL="342900" indent="-342900">
              <a:spcAft>
                <a:spcPts val="400"/>
              </a:spcAft>
              <a:buSzPct val="100000"/>
              <a:buChar char="•"/>
            </a:pPr>
            <a:r>
              <a:rPr lang="en-US" sz="1400" dirty="0">
                <a:solidFill>
                  <a:srgbClr val="1A1A1A"/>
                </a:solidFill>
                <a:latin typeface="Arial" pitchFamily="34" charset="0"/>
                <a:ea typeface="Arial" pitchFamily="34" charset="-122"/>
                <a:cs typeface="Arial" pitchFamily="34" charset="-120"/>
              </a:rPr>
              <a:t>Evaluation: Per-household MAE averaged across all 17,547 households</a:t>
            </a:r>
            <a:endParaRPr lang="en-US" sz="1400" dirty="0"/>
          </a:p>
          <a:p>
            <a:pPr marL="342900" indent="-342900">
              <a:spcAft>
                <a:spcPts val="400"/>
              </a:spcAft>
              <a:buSzPct val="100000"/>
              <a:buChar char="•"/>
            </a:pPr>
            <a:r>
              <a:rPr lang="en-US" sz="1400" dirty="0">
                <a:solidFill>
                  <a:srgbClr val="1A1A1A"/>
                </a:solidFill>
                <a:latin typeface="Arial" pitchFamily="34" charset="0"/>
                <a:ea typeface="Arial" pitchFamily="34" charset="-122"/>
                <a:cs typeface="Arial" pitchFamily="34" charset="-120"/>
              </a:rPr>
              <a:t>Challenge: Full-year horizon — no access to recent actuals during prediction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5C"/>
          </a:solidFill>
          <a:ln/>
        </p:spPr>
        <p:txBody>
          <a:bodyPr/>
          <a:lstStyle/>
          <a:p>
            <a:endParaRPr lang="en-US"/>
          </a:p>
        </p:txBody>
      </p:sp>
      <p:sp>
        <p:nvSpPr>
          <p:cNvPr id="3" name="Text 1"/>
          <p:cNvSpPr/>
          <p:nvPr/>
        </p:nvSpPr>
        <p:spPr>
          <a:xfrm>
            <a:off x="548640" y="91440"/>
            <a:ext cx="8046720" cy="640080"/>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The Data Insight That Changed Everything</a:t>
            </a:r>
            <a:endParaRPr lang="en-US" sz="2200" dirty="0"/>
          </a:p>
        </p:txBody>
      </p:sp>
      <p:sp>
        <p:nvSpPr>
          <p:cNvPr id="4" name="Text 2"/>
          <p:cNvSpPr/>
          <p:nvPr/>
        </p:nvSpPr>
        <p:spPr>
          <a:xfrm>
            <a:off x="633050" y="1005840"/>
            <a:ext cx="4114800" cy="320040"/>
          </a:xfrm>
          <a:prstGeom prst="rect">
            <a:avLst/>
          </a:prstGeom>
          <a:noFill/>
          <a:ln/>
        </p:spPr>
        <p:txBody>
          <a:bodyPr wrap="square" rtlCol="0" anchor="ctr"/>
          <a:lstStyle/>
          <a:p>
            <a:pPr marL="0" indent="0">
              <a:buNone/>
            </a:pPr>
            <a:r>
              <a:rPr lang="en-US" sz="1600" dirty="0">
                <a:solidFill>
                  <a:srgbClr val="666666"/>
                </a:solidFill>
                <a:latin typeface="Arial" pitchFamily="34" charset="0"/>
                <a:ea typeface="Arial" pitchFamily="34" charset="-122"/>
                <a:cs typeface="Arial" pitchFamily="34" charset="-120"/>
              </a:rPr>
              <a:t>Year-over-Year Correlation</a:t>
            </a:r>
            <a:endParaRPr lang="en-US" sz="1600" dirty="0"/>
          </a:p>
        </p:txBody>
      </p:sp>
      <p:sp>
        <p:nvSpPr>
          <p:cNvPr id="5" name="Text 3"/>
          <p:cNvSpPr/>
          <p:nvPr/>
        </p:nvSpPr>
        <p:spPr>
          <a:xfrm>
            <a:off x="633050" y="1280160"/>
            <a:ext cx="2743200" cy="822960"/>
          </a:xfrm>
          <a:prstGeom prst="rect">
            <a:avLst/>
          </a:prstGeom>
          <a:noFill/>
          <a:ln/>
        </p:spPr>
        <p:txBody>
          <a:bodyPr wrap="square" rtlCol="0" anchor="ctr"/>
          <a:lstStyle/>
          <a:p>
            <a:pPr marL="0" indent="0">
              <a:buNone/>
            </a:pPr>
            <a:r>
              <a:rPr lang="en-US" sz="6600" b="1" dirty="0">
                <a:solidFill>
                  <a:srgbClr val="E84855"/>
                </a:solidFill>
                <a:latin typeface="Arial" pitchFamily="34" charset="0"/>
                <a:ea typeface="Arial" pitchFamily="34" charset="-122"/>
                <a:cs typeface="Arial" pitchFamily="34" charset="-120"/>
              </a:rPr>
              <a:t>0.215</a:t>
            </a:r>
            <a:endParaRPr lang="en-US" sz="6600" dirty="0"/>
          </a:p>
        </p:txBody>
      </p:sp>
      <p:sp>
        <p:nvSpPr>
          <p:cNvPr id="6" name="Text 4"/>
          <p:cNvSpPr/>
          <p:nvPr/>
        </p:nvSpPr>
        <p:spPr>
          <a:xfrm>
            <a:off x="3193370" y="1371600"/>
            <a:ext cx="1828800" cy="548640"/>
          </a:xfrm>
          <a:prstGeom prst="rect">
            <a:avLst/>
          </a:prstGeom>
          <a:noFill/>
          <a:ln/>
        </p:spPr>
        <p:txBody>
          <a:bodyPr wrap="square" rtlCol="0" anchor="ctr"/>
          <a:lstStyle/>
          <a:p>
            <a:pPr marL="0" indent="0">
              <a:buNone/>
            </a:pPr>
            <a:r>
              <a:rPr lang="en-US" sz="1200" dirty="0">
                <a:solidFill>
                  <a:srgbClr val="666666"/>
                </a:solidFill>
                <a:latin typeface="Arial" pitchFamily="34" charset="0"/>
                <a:ea typeface="Arial" pitchFamily="34" charset="-122"/>
                <a:cs typeface="Arial" pitchFamily="34" charset="-120"/>
              </a:rPr>
              <a:t>Mean Pearson r across</a:t>
            </a:r>
            <a:endParaRPr lang="en-US" sz="1200" dirty="0"/>
          </a:p>
          <a:p>
            <a:pPr marL="0" indent="0">
              <a:buNone/>
            </a:pPr>
            <a:r>
              <a:rPr lang="en-US" sz="1200" dirty="0">
                <a:solidFill>
                  <a:srgbClr val="666666"/>
                </a:solidFill>
                <a:latin typeface="Arial" pitchFamily="34" charset="0"/>
                <a:ea typeface="Arial" pitchFamily="34" charset="-122"/>
                <a:cs typeface="Arial" pitchFamily="34" charset="-120"/>
              </a:rPr>
              <a:t>17,547 households</a:t>
            </a:r>
            <a:endParaRPr lang="en-US" sz="1200" dirty="0"/>
          </a:p>
        </p:txBody>
      </p:sp>
      <p:sp>
        <p:nvSpPr>
          <p:cNvPr id="7" name="Shape 5"/>
          <p:cNvSpPr/>
          <p:nvPr/>
        </p:nvSpPr>
        <p:spPr>
          <a:xfrm>
            <a:off x="381590" y="2286000"/>
            <a:ext cx="2560320" cy="640080"/>
          </a:xfrm>
          <a:prstGeom prst="rect">
            <a:avLst/>
          </a:prstGeom>
          <a:solidFill>
            <a:srgbClr val="F2F4F7"/>
          </a:solidFill>
          <a:ln/>
        </p:spPr>
        <p:txBody>
          <a:bodyPr/>
          <a:lstStyle/>
          <a:p>
            <a:endParaRPr lang="en-US" sz="2000"/>
          </a:p>
        </p:txBody>
      </p:sp>
      <p:sp>
        <p:nvSpPr>
          <p:cNvPr id="8" name="Text 6"/>
          <p:cNvSpPr/>
          <p:nvPr/>
        </p:nvSpPr>
        <p:spPr>
          <a:xfrm>
            <a:off x="274320" y="2286000"/>
            <a:ext cx="2560320" cy="640080"/>
          </a:xfrm>
          <a:prstGeom prst="rect">
            <a:avLst/>
          </a:prstGeom>
          <a:noFill/>
          <a:ln/>
        </p:spPr>
        <p:txBody>
          <a:bodyPr wrap="square" rtlCol="0" anchor="ctr"/>
          <a:lstStyle/>
          <a:p>
            <a:pPr marL="0" indent="0" algn="ctr">
              <a:buNone/>
            </a:pPr>
            <a:r>
              <a:rPr lang="en-US" sz="1400" b="1" dirty="0">
                <a:solidFill>
                  <a:srgbClr val="1A1A1A"/>
                </a:solidFill>
                <a:latin typeface="Arial" pitchFamily="34" charset="0"/>
                <a:ea typeface="Arial" pitchFamily="34" charset="-122"/>
                <a:cs typeface="Arial" pitchFamily="34" charset="-120"/>
              </a:rPr>
              <a:t>59% of households</a:t>
            </a:r>
            <a:endParaRPr lang="en-US" sz="1400" dirty="0"/>
          </a:p>
          <a:p>
            <a:pPr marL="0" indent="0" algn="ctr">
              <a:buNone/>
            </a:pPr>
            <a:r>
              <a:rPr lang="en-US" sz="1400" b="1" dirty="0">
                <a:solidFill>
                  <a:srgbClr val="1A1A1A"/>
                </a:solidFill>
                <a:latin typeface="Arial" pitchFamily="34" charset="0"/>
                <a:ea typeface="Arial" pitchFamily="34" charset="-122"/>
                <a:cs typeface="Arial" pitchFamily="34" charset="-120"/>
              </a:rPr>
              <a:t>correlation &lt; 0.2</a:t>
            </a:r>
            <a:endParaRPr lang="en-US" sz="1400" dirty="0"/>
          </a:p>
        </p:txBody>
      </p:sp>
      <p:sp>
        <p:nvSpPr>
          <p:cNvPr id="9" name="Shape 7"/>
          <p:cNvSpPr/>
          <p:nvPr/>
        </p:nvSpPr>
        <p:spPr>
          <a:xfrm>
            <a:off x="2919050" y="2286000"/>
            <a:ext cx="2560320" cy="640080"/>
          </a:xfrm>
          <a:prstGeom prst="rect">
            <a:avLst/>
          </a:prstGeom>
          <a:solidFill>
            <a:srgbClr val="F2F4F7"/>
          </a:solidFill>
          <a:ln/>
        </p:spPr>
        <p:txBody>
          <a:bodyPr/>
          <a:lstStyle/>
          <a:p>
            <a:endParaRPr lang="en-US" sz="2000"/>
          </a:p>
        </p:txBody>
      </p:sp>
      <p:sp>
        <p:nvSpPr>
          <p:cNvPr id="10" name="Text 8"/>
          <p:cNvSpPr/>
          <p:nvPr/>
        </p:nvSpPr>
        <p:spPr>
          <a:xfrm>
            <a:off x="2964770" y="2286000"/>
            <a:ext cx="2560320" cy="640080"/>
          </a:xfrm>
          <a:prstGeom prst="rect">
            <a:avLst/>
          </a:prstGeom>
          <a:noFill/>
          <a:ln/>
        </p:spPr>
        <p:txBody>
          <a:bodyPr wrap="square" rtlCol="0" anchor="ctr"/>
          <a:lstStyle/>
          <a:p>
            <a:pPr marL="0" indent="0" algn="ctr">
              <a:buNone/>
            </a:pPr>
            <a:r>
              <a:rPr lang="en-US" sz="1400" b="1" dirty="0">
                <a:solidFill>
                  <a:srgbClr val="1A1A1A"/>
                </a:solidFill>
                <a:latin typeface="Arial" pitchFamily="34" charset="0"/>
                <a:ea typeface="Arial" pitchFamily="34" charset="-122"/>
                <a:cs typeface="Arial" pitchFamily="34" charset="-120"/>
              </a:rPr>
              <a:t>Only 2.1% of households</a:t>
            </a:r>
            <a:endParaRPr lang="en-US" sz="1400" dirty="0"/>
          </a:p>
          <a:p>
            <a:pPr marL="0" indent="0" algn="ctr">
              <a:buNone/>
            </a:pPr>
            <a:r>
              <a:rPr lang="en-US" sz="1400" b="1" dirty="0">
                <a:solidFill>
                  <a:srgbClr val="1A1A1A"/>
                </a:solidFill>
                <a:latin typeface="Arial" pitchFamily="34" charset="0"/>
                <a:ea typeface="Arial" pitchFamily="34" charset="-122"/>
                <a:cs typeface="Arial" pitchFamily="34" charset="-120"/>
              </a:rPr>
              <a:t>correlation &gt; 0.8</a:t>
            </a:r>
            <a:endParaRPr lang="en-US" sz="1400" dirty="0"/>
          </a:p>
        </p:txBody>
      </p:sp>
      <p:sp>
        <p:nvSpPr>
          <p:cNvPr id="12" name="Shape 9"/>
          <p:cNvSpPr/>
          <p:nvPr/>
        </p:nvSpPr>
        <p:spPr>
          <a:xfrm>
            <a:off x="457200" y="3200400"/>
            <a:ext cx="5022170" cy="1498209"/>
          </a:xfrm>
          <a:prstGeom prst="rect">
            <a:avLst/>
          </a:prstGeom>
          <a:solidFill>
            <a:srgbClr val="F2F4F7"/>
          </a:solidFill>
          <a:ln/>
        </p:spPr>
        <p:txBody>
          <a:bodyPr/>
          <a:lstStyle/>
          <a:p>
            <a:endParaRPr lang="en-US" sz="2000"/>
          </a:p>
        </p:txBody>
      </p:sp>
      <p:sp>
        <p:nvSpPr>
          <p:cNvPr id="13" name="Shape 10"/>
          <p:cNvSpPr/>
          <p:nvPr/>
        </p:nvSpPr>
        <p:spPr>
          <a:xfrm>
            <a:off x="457200" y="3200400"/>
            <a:ext cx="54864" cy="1554480"/>
          </a:xfrm>
          <a:prstGeom prst="rect">
            <a:avLst/>
          </a:prstGeom>
          <a:solidFill>
            <a:srgbClr val="E84855"/>
          </a:solidFill>
          <a:ln/>
        </p:spPr>
        <p:txBody>
          <a:bodyPr/>
          <a:lstStyle/>
          <a:p>
            <a:endParaRPr lang="en-US" sz="2000"/>
          </a:p>
        </p:txBody>
      </p:sp>
      <p:sp>
        <p:nvSpPr>
          <p:cNvPr id="14" name="Text 11"/>
          <p:cNvSpPr/>
          <p:nvPr/>
        </p:nvSpPr>
        <p:spPr>
          <a:xfrm>
            <a:off x="815930" y="3246120"/>
            <a:ext cx="4023360" cy="274320"/>
          </a:xfrm>
          <a:prstGeom prst="rect">
            <a:avLst/>
          </a:prstGeom>
          <a:noFill/>
          <a:ln/>
        </p:spPr>
        <p:txBody>
          <a:bodyPr wrap="square" lIns="0" tIns="0" rIns="0" bIns="0" rtlCol="0" anchor="ctr"/>
          <a:lstStyle/>
          <a:p>
            <a:pPr marL="0" indent="0">
              <a:buNone/>
            </a:pPr>
            <a:r>
              <a:rPr lang="en-US" sz="1400" b="1" dirty="0">
                <a:solidFill>
                  <a:srgbClr val="1B3A5C"/>
                </a:solidFill>
                <a:latin typeface="Arial" pitchFamily="34" charset="0"/>
                <a:ea typeface="Arial" pitchFamily="34" charset="-122"/>
                <a:cs typeface="Arial" pitchFamily="34" charset="-120"/>
              </a:rPr>
              <a:t>What this means:</a:t>
            </a:r>
            <a:endParaRPr lang="en-US" sz="1400" dirty="0"/>
          </a:p>
        </p:txBody>
      </p:sp>
      <p:sp>
        <p:nvSpPr>
          <p:cNvPr id="15" name="Text 12"/>
          <p:cNvSpPr/>
          <p:nvPr/>
        </p:nvSpPr>
        <p:spPr>
          <a:xfrm>
            <a:off x="815930" y="3520440"/>
            <a:ext cx="4023360" cy="1097280"/>
          </a:xfrm>
          <a:prstGeom prst="rect">
            <a:avLst/>
          </a:prstGeom>
          <a:noFill/>
          <a:ln/>
        </p:spPr>
        <p:txBody>
          <a:bodyPr wrap="square" lIns="0" tIns="0" rIns="0" bIns="0" rtlCol="0" anchor="t"/>
          <a:lstStyle/>
          <a:p>
            <a:pPr marL="0" indent="0">
              <a:buNone/>
            </a:pPr>
            <a:r>
              <a:rPr lang="en-US" sz="1200" dirty="0">
                <a:solidFill>
                  <a:srgbClr val="1A1A1A"/>
                </a:solidFill>
                <a:latin typeface="Arial" pitchFamily="34" charset="0"/>
                <a:ea typeface="Arial" pitchFamily="34" charset="-122"/>
                <a:cs typeface="Arial" pitchFamily="34" charset="-120"/>
              </a:rPr>
              <a:t>Daily 2023 patterns do NOT repeat in 2024. Only seasonal shape and weekly cycles persist. Aggregated patterns (monthly means, DOW averages) are more reliable than specific historical values. This redirected our entire approach.</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7748CFB-F52D-6FE1-B229-0061D974CCF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8A118DE-D6EA-852B-EE0B-4DCFDE5BC8C8}"/>
              </a:ext>
            </a:extLst>
          </p:cNvPr>
          <p:cNvSpPr/>
          <p:nvPr/>
        </p:nvSpPr>
        <p:spPr>
          <a:xfrm>
            <a:off x="0" y="0"/>
            <a:ext cx="9144000" cy="822960"/>
          </a:xfrm>
          <a:prstGeom prst="rect">
            <a:avLst/>
          </a:prstGeom>
          <a:solidFill>
            <a:srgbClr val="1B3A5C"/>
          </a:solidFill>
          <a:ln/>
        </p:spPr>
        <p:txBody>
          <a:bodyPr/>
          <a:lstStyle/>
          <a:p>
            <a:endParaRPr lang="en-US"/>
          </a:p>
        </p:txBody>
      </p:sp>
      <p:sp>
        <p:nvSpPr>
          <p:cNvPr id="3" name="Text 1">
            <a:extLst>
              <a:ext uri="{FF2B5EF4-FFF2-40B4-BE49-F238E27FC236}">
                <a16:creationId xmlns:a16="http://schemas.microsoft.com/office/drawing/2014/main" id="{7BE70BC0-8F5F-7E2C-30BC-B57533478B08}"/>
              </a:ext>
            </a:extLst>
          </p:cNvPr>
          <p:cNvSpPr/>
          <p:nvPr/>
        </p:nvSpPr>
        <p:spPr>
          <a:xfrm>
            <a:off x="548640" y="91440"/>
            <a:ext cx="8046720" cy="640080"/>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The Data Insight That Changed Everything</a:t>
            </a:r>
            <a:endParaRPr lang="en-US" sz="2200" dirty="0"/>
          </a:p>
        </p:txBody>
      </p:sp>
      <p:pic>
        <p:nvPicPr>
          <p:cNvPr id="11" name="Image 0" descr="/home/claude/fig1_eda.png">
            <a:extLst>
              <a:ext uri="{FF2B5EF4-FFF2-40B4-BE49-F238E27FC236}">
                <a16:creationId xmlns:a16="http://schemas.microsoft.com/office/drawing/2014/main" id="{4478C48E-7158-DE06-FEB6-221925BE17FD}"/>
              </a:ext>
            </a:extLst>
          </p:cNvPr>
          <p:cNvPicPr>
            <a:picLocks noChangeAspect="1"/>
          </p:cNvPicPr>
          <p:nvPr/>
        </p:nvPicPr>
        <p:blipFill>
          <a:blip r:embed="rId3"/>
          <a:srcRect t="8457"/>
          <a:stretch>
            <a:fillRect/>
          </a:stretch>
        </p:blipFill>
        <p:spPr>
          <a:xfrm>
            <a:off x="1744393" y="822959"/>
            <a:ext cx="4951828" cy="4142935"/>
          </a:xfrm>
          <a:prstGeom prst="rect">
            <a:avLst/>
          </a:prstGeom>
        </p:spPr>
      </p:pic>
    </p:spTree>
    <p:extLst>
      <p:ext uri="{BB962C8B-B14F-4D97-AF65-F5344CB8AC3E}">
        <p14:creationId xmlns:p14="http://schemas.microsoft.com/office/powerpoint/2010/main" val="21277870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5C"/>
          </a:solidFill>
          <a:ln/>
        </p:spPr>
        <p:txBody>
          <a:bodyPr/>
          <a:lstStyle/>
          <a:p>
            <a:endParaRPr lang="en-US"/>
          </a:p>
        </p:txBody>
      </p:sp>
      <p:sp>
        <p:nvSpPr>
          <p:cNvPr id="3" name="Text 1"/>
          <p:cNvSpPr/>
          <p:nvPr/>
        </p:nvSpPr>
        <p:spPr>
          <a:xfrm>
            <a:off x="548640" y="91440"/>
            <a:ext cx="8046720" cy="640080"/>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What Didn’t Work: ML Models</a:t>
            </a:r>
            <a:endParaRPr lang="en-US" sz="2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274320" y="1005840"/>
          <a:ext cx="7498080" cy="1722120"/>
        </p:xfrm>
        <a:graphic>
          <a:graphicData uri="http://schemas.openxmlformats.org/drawingml/2006/table">
            <a:tbl>
              <a:tblPr/>
              <a:tblGrid>
                <a:gridCol w="256032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tblGrid>
              <a:tr h="0">
                <a:tc>
                  <a:txBody>
                    <a:bodyPr/>
                    <a:lstStyle/>
                    <a:p>
                      <a:pPr marL="0" indent="0">
                        <a:buNone/>
                      </a:pPr>
                      <a:r>
                        <a:rPr lang="en-US" sz="1100" b="1" dirty="0">
                          <a:solidFill>
                            <a:srgbClr val="FFFFFF"/>
                          </a:solidFill>
                          <a:latin typeface="Arial" pitchFamily="34" charset="0"/>
                          <a:ea typeface="Arial" pitchFamily="34" charset="-122"/>
                          <a:cs typeface="Arial" pitchFamily="34" charset="-120"/>
                        </a:rPr>
                        <a:t>Method</a:t>
                      </a:r>
                      <a:endParaRPr lang="en-US" sz="11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MAE</a:t>
                      </a:r>
                      <a:endParaRPr lang="en-US" sz="11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Parameters</a:t>
                      </a:r>
                      <a:endParaRPr lang="en-US" sz="11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Time</a:t>
                      </a:r>
                      <a:endParaRPr lang="en-US" sz="11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extLst>
                  <a:ext uri="{0D108BD9-81ED-4DB2-BD59-A6C34878D82A}">
                    <a16:rowId xmlns:a16="http://schemas.microsoft.com/office/drawing/2014/main" val="10000"/>
                  </a:ext>
                </a:extLst>
              </a:tr>
              <a:tr h="0">
                <a:tc>
                  <a:txBody>
                    <a:bodyPr/>
                    <a:lstStyle/>
                    <a:p>
                      <a:pPr marL="0" indent="0">
                        <a:buNone/>
                      </a:pPr>
                      <a:r>
                        <a:rPr lang="en-US" sz="1000" dirty="0">
                          <a:solidFill>
                            <a:srgbClr val="000000"/>
                          </a:solidFill>
                          <a:latin typeface="Arial" pitchFamily="34" charset="0"/>
                          <a:ea typeface="Arial" pitchFamily="34" charset="-122"/>
                          <a:cs typeface="Arial" pitchFamily="34" charset="-120"/>
                        </a:rPr>
                        <a:t>Seasonal Naive (baseline)</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3.860</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None</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0s</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000" b="1" dirty="0">
                          <a:solidFill>
                            <a:srgbClr val="000000"/>
                          </a:solidFill>
                          <a:latin typeface="Arial" pitchFamily="34" charset="0"/>
                          <a:ea typeface="Arial" pitchFamily="34" charset="-122"/>
                          <a:cs typeface="Arial" pitchFamily="34" charset="-120"/>
                        </a:rPr>
                        <a:t>Weekly Naive</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b="1" dirty="0">
                          <a:solidFill>
                            <a:srgbClr val="000000"/>
                          </a:solidFill>
                          <a:latin typeface="Arial" pitchFamily="34" charset="0"/>
                          <a:ea typeface="Arial" pitchFamily="34" charset="-122"/>
                          <a:cs typeface="Arial" pitchFamily="34" charset="-120"/>
                        </a:rPr>
                        <a:t>3.294</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last 8 weeks DOW avg, monthly ratio</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0s</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000" dirty="0">
                          <a:solidFill>
                            <a:srgbClr val="000000"/>
                          </a:solidFill>
                          <a:latin typeface="Arial" pitchFamily="34" charset="0"/>
                          <a:ea typeface="Arial" pitchFamily="34" charset="-122"/>
                          <a:cs typeface="Arial" pitchFamily="34" charset="-120"/>
                        </a:rPr>
                        <a:t>Global LightGBM</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3.346</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47 features, 63 leaves, lr=0.05, 800 trees</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40s</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000" dirty="0">
                          <a:solidFill>
                            <a:srgbClr val="000000"/>
                          </a:solidFill>
                          <a:latin typeface="Arial" pitchFamily="34" charset="0"/>
                          <a:ea typeface="Arial" pitchFamily="34" charset="-122"/>
                          <a:cs typeface="Arial" pitchFamily="34" charset="-120"/>
                        </a:rPr>
                        <a:t>Global XGBoost</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3.392</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47 features, depth=8, lr=0.05, 800 trees</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950s</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buNone/>
                      </a:pPr>
                      <a:r>
                        <a:rPr lang="en-US" sz="1000" dirty="0">
                          <a:solidFill>
                            <a:srgbClr val="000000"/>
                          </a:solidFill>
                          <a:latin typeface="Arial" pitchFamily="34" charset="0"/>
                          <a:ea typeface="Arial" pitchFamily="34" charset="-122"/>
                          <a:cs typeface="Arial" pitchFamily="34" charset="-120"/>
                        </a:rPr>
                        <a:t>Scaled LightGBM (novel)</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3.361</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z-normalised targets, same params</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97s</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indent="0">
                        <a:buNone/>
                      </a:pPr>
                      <a:r>
                        <a:rPr lang="en-US" sz="1000" dirty="0">
                          <a:solidFill>
                            <a:srgbClr val="000000"/>
                          </a:solidFill>
                          <a:latin typeface="Arial" pitchFamily="34" charset="0"/>
                          <a:ea typeface="Arial" pitchFamily="34" charset="-122"/>
                          <a:cs typeface="Arial" pitchFamily="34" charset="-120"/>
                        </a:rPr>
                        <a:t>ML Ensemble (3 models)</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3.339</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inverse-MAE weighted average</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1087s</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4" name="Shape 2"/>
          <p:cNvSpPr/>
          <p:nvPr/>
        </p:nvSpPr>
        <p:spPr>
          <a:xfrm>
            <a:off x="457200" y="3200400"/>
            <a:ext cx="8229600" cy="457200"/>
          </a:xfrm>
          <a:prstGeom prst="rect">
            <a:avLst/>
          </a:prstGeom>
          <a:solidFill>
            <a:srgbClr val="FFF0F0"/>
          </a:solidFill>
          <a:ln/>
        </p:spPr>
        <p:txBody>
          <a:bodyPr/>
          <a:lstStyle/>
          <a:p>
            <a:endParaRPr lang="en-US"/>
          </a:p>
        </p:txBody>
      </p:sp>
      <p:sp>
        <p:nvSpPr>
          <p:cNvPr id="6" name="Text 3"/>
          <p:cNvSpPr/>
          <p:nvPr/>
        </p:nvSpPr>
        <p:spPr>
          <a:xfrm>
            <a:off x="457200" y="3200400"/>
            <a:ext cx="8229600" cy="457200"/>
          </a:xfrm>
          <a:prstGeom prst="rect">
            <a:avLst/>
          </a:prstGeom>
          <a:noFill/>
          <a:ln/>
        </p:spPr>
        <p:txBody>
          <a:bodyPr wrap="square" rtlCol="0" anchor="ctr"/>
          <a:lstStyle/>
          <a:p>
            <a:pPr marL="0" indent="0" algn="ctr">
              <a:buNone/>
            </a:pPr>
            <a:r>
              <a:rPr lang="en-US" sz="1600" b="1" dirty="0">
                <a:solidFill>
                  <a:srgbClr val="E84855"/>
                </a:solidFill>
                <a:latin typeface="Arial" pitchFamily="34" charset="0"/>
                <a:ea typeface="Arial" pitchFamily="34" charset="-122"/>
                <a:cs typeface="Arial" pitchFamily="34" charset="-120"/>
              </a:rPr>
              <a:t>All ML models performed WORSE than Weekly Naive (3.294)</a:t>
            </a:r>
            <a:endParaRPr lang="en-US" sz="1600" dirty="0"/>
          </a:p>
        </p:txBody>
      </p:sp>
      <p:sp>
        <p:nvSpPr>
          <p:cNvPr id="7" name="Text 4"/>
          <p:cNvSpPr/>
          <p:nvPr/>
        </p:nvSpPr>
        <p:spPr>
          <a:xfrm>
            <a:off x="548640" y="3749040"/>
            <a:ext cx="8046720" cy="1280160"/>
          </a:xfrm>
          <a:prstGeom prst="rect">
            <a:avLst/>
          </a:prstGeom>
          <a:noFill/>
          <a:ln/>
        </p:spPr>
        <p:txBody>
          <a:bodyPr wrap="square" rtlCol="0" anchor="t"/>
          <a:lstStyle/>
          <a:p>
            <a:pPr marL="342900" indent="-342900">
              <a:spcAft>
                <a:spcPts val="400"/>
              </a:spcAft>
              <a:buSzPct val="100000"/>
              <a:buChar char="•"/>
            </a:pPr>
            <a:r>
              <a:rPr lang="en-US" sz="1100" dirty="0">
                <a:solidFill>
                  <a:srgbClr val="1A1A1A"/>
                </a:solidFill>
                <a:latin typeface="Arial" pitchFamily="34" charset="0"/>
                <a:ea typeface="Arial" pitchFamily="34" charset="-122"/>
                <a:cs typeface="Arial" pitchFamily="34" charset="-120"/>
              </a:rPr>
              <a:t>Why? Low YoY correlation (0.215) → lag_365 feature is noise for 85% of households</a:t>
            </a:r>
            <a:endParaRPr lang="en-US" sz="1100" dirty="0"/>
          </a:p>
          <a:p>
            <a:pPr marL="342900" indent="-342900">
              <a:spcAft>
                <a:spcPts val="400"/>
              </a:spcAft>
              <a:buSzPct val="100000"/>
              <a:buChar char="•"/>
            </a:pPr>
            <a:r>
              <a:rPr lang="en-US" sz="1100" dirty="0">
                <a:solidFill>
                  <a:srgbClr val="1A1A1A"/>
                </a:solidFill>
                <a:latin typeface="Arial" pitchFamily="34" charset="0"/>
                <a:ea typeface="Arial" pitchFamily="34" charset="-122"/>
                <a:cs typeface="Arial" pitchFamily="34" charset="-120"/>
              </a:rPr>
              <a:t>Full-year horizon → lag_1 (strongest feature, importance=759) unavailable after Jan 1</a:t>
            </a:r>
            <a:endParaRPr lang="en-US" sz="1100" dirty="0"/>
          </a:p>
          <a:p>
            <a:pPr marL="342900" indent="-342900">
              <a:spcAft>
                <a:spcPts val="400"/>
              </a:spcAft>
              <a:buSzPct val="100000"/>
              <a:buChar char="•"/>
            </a:pPr>
            <a:r>
              <a:rPr lang="en-US" sz="1100" dirty="0">
                <a:solidFill>
                  <a:srgbClr val="1A1A1A"/>
                </a:solidFill>
                <a:latin typeface="Arial" pitchFamily="34" charset="0"/>
                <a:ea typeface="Arial" pitchFamily="34" charset="-122"/>
                <a:cs typeface="Arial" pitchFamily="34" charset="-120"/>
              </a:rPr>
              <a:t>No weather data → primary consumption driver is missing</a:t>
            </a:r>
            <a:endParaRPr lang="en-US" sz="1100" dirty="0"/>
          </a:p>
          <a:p>
            <a:pPr marL="342900" indent="-342900">
              <a:spcAft>
                <a:spcPts val="400"/>
              </a:spcAft>
              <a:buSzPct val="100000"/>
              <a:buChar char="•"/>
            </a:pPr>
            <a:r>
              <a:rPr lang="en-US" sz="1100" dirty="0">
                <a:solidFill>
                  <a:srgbClr val="1A1A1A"/>
                </a:solidFill>
                <a:latin typeface="Arial" pitchFamily="34" charset="0"/>
                <a:ea typeface="Arial" pitchFamily="34" charset="-122"/>
                <a:cs typeface="Arial" pitchFamily="34" charset="-120"/>
              </a:rPr>
              <a:t>Lesson: Model complexity cannot compensate for weak predictive signal</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5C"/>
          </a:solidFill>
          <a:ln/>
        </p:spPr>
        <p:txBody>
          <a:bodyPr/>
          <a:lstStyle/>
          <a:p>
            <a:endParaRPr lang="en-US"/>
          </a:p>
        </p:txBody>
      </p:sp>
      <p:sp>
        <p:nvSpPr>
          <p:cNvPr id="3" name="Text 1"/>
          <p:cNvSpPr/>
          <p:nvPr/>
        </p:nvSpPr>
        <p:spPr>
          <a:xfrm>
            <a:off x="548640" y="91440"/>
            <a:ext cx="8046720" cy="640080"/>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What Partially Worked: Clustering + ML</a:t>
            </a:r>
            <a:endParaRPr lang="en-US" sz="2200" dirty="0"/>
          </a:p>
        </p:txBody>
      </p:sp>
      <p:pic>
        <p:nvPicPr>
          <p:cNvPr id="4" name="Image 0" descr="/home/claude/fig3_cluster_profiles.png"/>
          <p:cNvPicPr>
            <a:picLocks noChangeAspect="1"/>
          </p:cNvPicPr>
          <p:nvPr/>
        </p:nvPicPr>
        <p:blipFill>
          <a:blip r:embed="rId3"/>
          <a:stretch>
            <a:fillRect/>
          </a:stretch>
        </p:blipFill>
        <p:spPr>
          <a:xfrm>
            <a:off x="182880" y="1005840"/>
            <a:ext cx="4389120" cy="3474720"/>
          </a:xfrm>
          <a:prstGeom prst="rect">
            <a:avLst/>
          </a:prstGeom>
        </p:spPr>
      </p:pic>
      <p:sp>
        <p:nvSpPr>
          <p:cNvPr id="5" name="Text 2"/>
          <p:cNvSpPr/>
          <p:nvPr/>
        </p:nvSpPr>
        <p:spPr>
          <a:xfrm>
            <a:off x="4754880" y="1005840"/>
            <a:ext cx="4114800" cy="274320"/>
          </a:xfrm>
          <a:prstGeom prst="rect">
            <a:avLst/>
          </a:prstGeom>
          <a:noFill/>
          <a:ln/>
        </p:spPr>
        <p:txBody>
          <a:bodyPr wrap="square" rtlCol="0" anchor="ctr"/>
          <a:lstStyle/>
          <a:p>
            <a:pPr marL="0" indent="0">
              <a:buNone/>
            </a:pPr>
            <a:r>
              <a:rPr lang="en-US" sz="1300" b="1" dirty="0">
                <a:solidFill>
                  <a:srgbClr val="1B3A5C"/>
                </a:solidFill>
                <a:latin typeface="Arial" pitchFamily="34" charset="0"/>
                <a:ea typeface="Arial" pitchFamily="34" charset="-122"/>
                <a:cs typeface="Arial" pitchFamily="34" charset="-120"/>
              </a:rPr>
              <a:t>Three clustering methods tested:</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754880" y="1371600"/>
          <a:ext cx="3474720" cy="1219200"/>
        </p:xfrm>
        <a:graphic>
          <a:graphicData uri="http://schemas.openxmlformats.org/drawingml/2006/table">
            <a:tbl>
              <a:tblPr/>
              <a:tblGrid>
                <a:gridCol w="228600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tblGrid>
              <a:tr h="0">
                <a:tc>
                  <a:txBody>
                    <a:bodyPr/>
                    <a:lstStyle/>
                    <a:p>
                      <a:pPr marL="0" indent="0">
                        <a:buNone/>
                      </a:pPr>
                      <a:r>
                        <a:rPr lang="en-US" sz="1000" b="1" dirty="0">
                          <a:solidFill>
                            <a:srgbClr val="FFFFFF"/>
                          </a:solidFill>
                          <a:latin typeface="Arial" pitchFamily="34" charset="0"/>
                          <a:ea typeface="Arial" pitchFamily="34" charset="-122"/>
                          <a:cs typeface="Arial" pitchFamily="34" charset="-120"/>
                        </a:rPr>
                        <a:t>Method</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k</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MAE</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extLst>
                  <a:ext uri="{0D108BD9-81ED-4DB2-BD59-A6C34878D82A}">
                    <a16:rowId xmlns:a16="http://schemas.microsoft.com/office/drawing/2014/main" val="10000"/>
                  </a:ext>
                </a:extLst>
              </a:tr>
              <a:tr h="0">
                <a:tc>
                  <a:txBody>
                    <a:bodyPr/>
                    <a:lstStyle/>
                    <a:p>
                      <a:pPr marL="0" indent="0">
                        <a:buNone/>
                      </a:pPr>
                      <a:r>
                        <a:rPr lang="en-US" sz="1000" dirty="0">
                          <a:solidFill>
                            <a:srgbClr val="000000"/>
                          </a:solidFill>
                          <a:latin typeface="Arial" pitchFamily="34" charset="0"/>
                          <a:ea typeface="Arial" pitchFamily="34" charset="-122"/>
                          <a:cs typeface="Arial" pitchFamily="34" charset="-120"/>
                        </a:rPr>
                        <a:t>Feature k-Means (raw)</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10</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3.323</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000" b="1" dirty="0">
                          <a:solidFill>
                            <a:srgbClr val="000000"/>
                          </a:solidFill>
                          <a:latin typeface="Arial" pitchFamily="34" charset="0"/>
                          <a:ea typeface="Arial" pitchFamily="34" charset="-122"/>
                          <a:cs typeface="Arial" pitchFamily="34" charset="-120"/>
                        </a:rPr>
                        <a:t>Shape k-Means (z-norm)</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10</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b="1" dirty="0">
                          <a:solidFill>
                            <a:srgbClr val="000000"/>
                          </a:solidFill>
                          <a:latin typeface="Arial" pitchFamily="34" charset="0"/>
                          <a:ea typeface="Arial" pitchFamily="34" charset="-122"/>
                          <a:cs typeface="Arial" pitchFamily="34" charset="-120"/>
                        </a:rPr>
                        <a:t>3.312</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000" dirty="0">
                          <a:solidFill>
                            <a:srgbClr val="000000"/>
                          </a:solidFill>
                          <a:latin typeface="Arial" pitchFamily="34" charset="0"/>
                          <a:ea typeface="Arial" pitchFamily="34" charset="-122"/>
                          <a:cs typeface="Arial" pitchFamily="34" charset="-120"/>
                        </a:rPr>
                        <a:t>Two-Stage (level→shape)</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9</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3.321</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000" dirty="0">
                          <a:solidFill>
                            <a:srgbClr val="000000"/>
                          </a:solidFill>
                          <a:latin typeface="Arial" pitchFamily="34" charset="0"/>
                          <a:ea typeface="Arial" pitchFamily="34" charset="-122"/>
                          <a:cs typeface="Arial" pitchFamily="34" charset="-120"/>
                        </a:rPr>
                        <a:t>Global LightGBM (no cluster)</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3.346</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Text 3"/>
          <p:cNvSpPr/>
          <p:nvPr/>
        </p:nvSpPr>
        <p:spPr>
          <a:xfrm>
            <a:off x="4754880" y="2743200"/>
            <a:ext cx="4114800" cy="365760"/>
          </a:xfrm>
          <a:prstGeom prst="rect">
            <a:avLst/>
          </a:prstGeom>
          <a:noFill/>
          <a:ln/>
        </p:spPr>
        <p:txBody>
          <a:bodyPr wrap="square" rtlCol="0" anchor="ctr"/>
          <a:lstStyle/>
          <a:p>
            <a:pPr marL="0" indent="0" algn="ctr">
              <a:buNone/>
            </a:pPr>
            <a:r>
              <a:rPr lang="en-US" sz="1400" b="1" dirty="0">
                <a:solidFill>
                  <a:srgbClr val="2D936C"/>
                </a:solidFill>
                <a:latin typeface="Arial" pitchFamily="34" charset="0"/>
                <a:ea typeface="Arial" pitchFamily="34" charset="-122"/>
                <a:cs typeface="Arial" pitchFamily="34" charset="-120"/>
              </a:rPr>
              <a:t>Clustering improved ML by 1.02%</a:t>
            </a:r>
            <a:endParaRPr lang="en-US" sz="1400" dirty="0"/>
          </a:p>
        </p:txBody>
      </p:sp>
      <p:sp>
        <p:nvSpPr>
          <p:cNvPr id="8" name="Text 4"/>
          <p:cNvSpPr/>
          <p:nvPr/>
        </p:nvSpPr>
        <p:spPr>
          <a:xfrm>
            <a:off x="4754880" y="3108960"/>
            <a:ext cx="4114800" cy="274320"/>
          </a:xfrm>
          <a:prstGeom prst="rect">
            <a:avLst/>
          </a:prstGeom>
          <a:noFill/>
          <a:ln/>
        </p:spPr>
        <p:txBody>
          <a:bodyPr wrap="square" rtlCol="0" anchor="ctr"/>
          <a:lstStyle/>
          <a:p>
            <a:pPr marL="0" indent="0" algn="ctr">
              <a:buNone/>
            </a:pPr>
            <a:r>
              <a:rPr lang="en-US" sz="1600" b="1" dirty="0">
                <a:solidFill>
                  <a:srgbClr val="1B3A5C"/>
                </a:solidFill>
                <a:latin typeface="Arial" pitchFamily="34" charset="0"/>
                <a:ea typeface="Arial" pitchFamily="34" charset="-122"/>
                <a:cs typeface="Arial" pitchFamily="34" charset="-120"/>
              </a:rPr>
              <a:t>3.346 → 3.312</a:t>
            </a:r>
            <a:endParaRPr lang="en-US" sz="1600" dirty="0"/>
          </a:p>
        </p:txBody>
      </p:sp>
      <p:sp>
        <p:nvSpPr>
          <p:cNvPr id="9" name="Text 5"/>
          <p:cNvSpPr/>
          <p:nvPr/>
        </p:nvSpPr>
        <p:spPr>
          <a:xfrm>
            <a:off x="4754880" y="3474720"/>
            <a:ext cx="4114800" cy="1371600"/>
          </a:xfrm>
          <a:prstGeom prst="rect">
            <a:avLst/>
          </a:prstGeom>
          <a:noFill/>
          <a:ln/>
        </p:spPr>
        <p:txBody>
          <a:bodyPr wrap="square" rtlCol="0" anchor="t"/>
          <a:lstStyle/>
          <a:p>
            <a:pPr marL="342900" indent="-342900">
              <a:spcAft>
                <a:spcPts val="400"/>
              </a:spcAft>
              <a:buSzPct val="100000"/>
              <a:buChar char="•"/>
            </a:pPr>
            <a:r>
              <a:rPr lang="en-US" sz="1000" dirty="0">
                <a:solidFill>
                  <a:srgbClr val="1A1A1A"/>
                </a:solidFill>
                <a:latin typeface="Arial" pitchFamily="34" charset="0"/>
                <a:ea typeface="Arial" pitchFamily="34" charset="-122"/>
                <a:cs typeface="Arial" pitchFamily="34" charset="-120"/>
              </a:rPr>
              <a:t>Shape-based &gt; raw-scale (confirms Paparrizos &amp; Gravano, 2015)</a:t>
            </a:r>
            <a:endParaRPr lang="en-US" sz="1000" dirty="0"/>
          </a:p>
          <a:p>
            <a:pPr marL="342900" indent="-342900">
              <a:spcAft>
                <a:spcPts val="400"/>
              </a:spcAft>
              <a:buSzPct val="100000"/>
              <a:buChar char="•"/>
            </a:pPr>
            <a:r>
              <a:rPr lang="en-US" sz="1000" dirty="0">
                <a:solidFill>
                  <a:srgbClr val="1A1A1A"/>
                </a:solidFill>
                <a:latin typeface="Arial" pitchFamily="34" charset="0"/>
                <a:ea typeface="Arial" pitchFamily="34" charset="-122"/>
                <a:cs typeface="Arial" pitchFamily="34" charset="-120"/>
              </a:rPr>
              <a:t>k=10 selected via Davies-Bouldin index (DB=0.90)</a:t>
            </a:r>
            <a:endParaRPr lang="en-US" sz="1000" dirty="0"/>
          </a:p>
          <a:p>
            <a:pPr marL="342900" indent="-342900">
              <a:spcAft>
                <a:spcPts val="400"/>
              </a:spcAft>
              <a:buSzPct val="100000"/>
              <a:buChar char="•"/>
            </a:pPr>
            <a:r>
              <a:rPr lang="en-US" sz="1000" dirty="0">
                <a:solidFill>
                  <a:srgbClr val="1A1A1A"/>
                </a:solidFill>
                <a:latin typeface="Arial" pitchFamily="34" charset="0"/>
                <a:ea typeface="Arial" pitchFamily="34" charset="-122"/>
                <a:cs typeface="Arial" pitchFamily="34" charset="-120"/>
              </a:rPr>
              <a:t>Still worse than Weekly Naive (3.294) — clustering helps ML but doesn’t fix the fundamental data limitation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5C"/>
          </a:solidFill>
          <a:ln/>
        </p:spPr>
        <p:txBody>
          <a:bodyPr/>
          <a:lstStyle/>
          <a:p>
            <a:endParaRPr lang="en-US"/>
          </a:p>
        </p:txBody>
      </p:sp>
      <p:sp>
        <p:nvSpPr>
          <p:cNvPr id="3" name="Text 1"/>
          <p:cNvSpPr/>
          <p:nvPr/>
        </p:nvSpPr>
        <p:spPr>
          <a:xfrm>
            <a:off x="548640" y="91440"/>
            <a:ext cx="8046720" cy="640080"/>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What Worked: Per-Cluster Naive Blend (Our Best Method)</a:t>
            </a:r>
            <a:endParaRPr lang="en-US" sz="2200" dirty="0"/>
          </a:p>
        </p:txBody>
      </p:sp>
      <p:sp>
        <p:nvSpPr>
          <p:cNvPr id="4" name="Shape 2"/>
          <p:cNvSpPr/>
          <p:nvPr/>
        </p:nvSpPr>
        <p:spPr>
          <a:xfrm>
            <a:off x="365760" y="1005840"/>
            <a:ext cx="2734055" cy="1662332"/>
          </a:xfrm>
          <a:prstGeom prst="rect">
            <a:avLst/>
          </a:prstGeom>
          <a:solidFill>
            <a:srgbClr val="F2F4F7"/>
          </a:solidFill>
          <a:ln/>
        </p:spPr>
        <p:txBody>
          <a:bodyPr/>
          <a:lstStyle/>
          <a:p>
            <a:endParaRPr lang="en-US"/>
          </a:p>
        </p:txBody>
      </p:sp>
      <p:sp>
        <p:nvSpPr>
          <p:cNvPr id="5" name="Shape 3"/>
          <p:cNvSpPr/>
          <p:nvPr/>
        </p:nvSpPr>
        <p:spPr>
          <a:xfrm>
            <a:off x="365760" y="1005840"/>
            <a:ext cx="82296" cy="1662332"/>
          </a:xfrm>
          <a:prstGeom prst="rect">
            <a:avLst/>
          </a:prstGeom>
          <a:solidFill>
            <a:srgbClr val="2E75B6"/>
          </a:solidFill>
          <a:ln/>
        </p:spPr>
        <p:txBody>
          <a:bodyPr/>
          <a:lstStyle/>
          <a:p>
            <a:endParaRPr lang="en-US"/>
          </a:p>
        </p:txBody>
      </p:sp>
      <p:sp>
        <p:nvSpPr>
          <p:cNvPr id="6" name="Text 4"/>
          <p:cNvSpPr/>
          <p:nvPr/>
        </p:nvSpPr>
        <p:spPr>
          <a:xfrm>
            <a:off x="548640" y="1078992"/>
            <a:ext cx="2468880" cy="292608"/>
          </a:xfrm>
          <a:prstGeom prst="rect">
            <a:avLst/>
          </a:prstGeom>
          <a:noFill/>
          <a:ln/>
        </p:spPr>
        <p:txBody>
          <a:bodyPr wrap="square" lIns="0" tIns="0" rIns="0" bIns="0" rtlCol="0" anchor="ctr"/>
          <a:lstStyle/>
          <a:p>
            <a:pPr marL="0" indent="0">
              <a:buNone/>
            </a:pPr>
            <a:r>
              <a:rPr lang="en-US" sz="1200" b="1" dirty="0">
                <a:solidFill>
                  <a:srgbClr val="1B3A5C"/>
                </a:solidFill>
                <a:latin typeface="Arial" pitchFamily="34" charset="0"/>
                <a:ea typeface="Arial" pitchFamily="34" charset="-122"/>
                <a:cs typeface="Arial" pitchFamily="34" charset="-120"/>
              </a:rPr>
              <a:t>Step 1: Build 6 Naive Predictors</a:t>
            </a:r>
            <a:endParaRPr lang="en-US" sz="1200" dirty="0"/>
          </a:p>
        </p:txBody>
      </p:sp>
      <p:sp>
        <p:nvSpPr>
          <p:cNvPr id="7" name="Text 5"/>
          <p:cNvSpPr/>
          <p:nvPr/>
        </p:nvSpPr>
        <p:spPr>
          <a:xfrm>
            <a:off x="548640" y="1353312"/>
            <a:ext cx="2560320" cy="1314860"/>
          </a:xfrm>
          <a:prstGeom prst="rect">
            <a:avLst/>
          </a:prstGeom>
          <a:noFill/>
          <a:ln/>
        </p:spPr>
        <p:txBody>
          <a:bodyPr wrap="square" lIns="0" tIns="0" rIns="0" bIns="0" rtlCol="0" anchor="t"/>
          <a:lstStyle/>
          <a:p>
            <a:pPr marL="0" indent="0">
              <a:buNone/>
            </a:pPr>
            <a:r>
              <a:rPr lang="en-US" sz="1050" dirty="0">
                <a:solidFill>
                  <a:srgbClr val="666666"/>
                </a:solidFill>
                <a:latin typeface="Arial" pitchFamily="34" charset="0"/>
                <a:ea typeface="Arial" pitchFamily="34" charset="-122"/>
                <a:cs typeface="Arial" pitchFamily="34" charset="-120"/>
              </a:rPr>
              <a:t>1. Seasonal Naive (repeat 2023)</a:t>
            </a:r>
            <a:endParaRPr lang="en-US" sz="1050" dirty="0"/>
          </a:p>
          <a:p>
            <a:pPr marL="0" indent="0">
              <a:buNone/>
            </a:pPr>
            <a:r>
              <a:rPr lang="en-US" sz="1050" dirty="0">
                <a:solidFill>
                  <a:srgbClr val="666666"/>
                </a:solidFill>
                <a:latin typeface="Arial" pitchFamily="34" charset="0"/>
                <a:ea typeface="Arial" pitchFamily="34" charset="-122"/>
                <a:cs typeface="Arial" pitchFamily="34" charset="-120"/>
              </a:rPr>
              <a:t>2. DOW-Matched (same weekday, closest day)</a:t>
            </a:r>
            <a:endParaRPr lang="en-US" sz="1050" dirty="0"/>
          </a:p>
          <a:p>
            <a:pPr marL="0" indent="0">
              <a:buNone/>
            </a:pPr>
            <a:r>
              <a:rPr lang="en-US" sz="1050" dirty="0">
                <a:solidFill>
                  <a:srgbClr val="666666"/>
                </a:solidFill>
                <a:latin typeface="Arial" pitchFamily="34" charset="0"/>
                <a:ea typeface="Arial" pitchFamily="34" charset="-122"/>
                <a:cs typeface="Arial" pitchFamily="34" charset="-120"/>
              </a:rPr>
              <a:t>3. Weekly Naive (8-week DOW avg + monthly ratio)</a:t>
            </a:r>
            <a:endParaRPr lang="en-US" sz="1050" dirty="0"/>
          </a:p>
          <a:p>
            <a:pPr marL="0" indent="0">
              <a:buNone/>
            </a:pPr>
            <a:r>
              <a:rPr lang="en-US" sz="1050" dirty="0">
                <a:solidFill>
                  <a:srgbClr val="666666"/>
                </a:solidFill>
                <a:latin typeface="Arial" pitchFamily="34" charset="0"/>
                <a:ea typeface="Arial" pitchFamily="34" charset="-122"/>
                <a:cs typeface="Arial" pitchFamily="34" charset="-120"/>
              </a:rPr>
              <a:t>4. Monthly DOW Profile (12×7 lookup)</a:t>
            </a:r>
            <a:endParaRPr lang="en-US" sz="1050" dirty="0"/>
          </a:p>
          <a:p>
            <a:pPr marL="0" indent="0">
              <a:buNone/>
            </a:pPr>
            <a:r>
              <a:rPr lang="en-US" sz="1050" dirty="0">
                <a:solidFill>
                  <a:srgbClr val="666666"/>
                </a:solidFill>
                <a:latin typeface="Arial" pitchFamily="34" charset="0"/>
                <a:ea typeface="Arial" pitchFamily="34" charset="-122"/>
                <a:cs typeface="Arial" pitchFamily="34" charset="-120"/>
              </a:rPr>
              <a:t>5. Exp-Weighted DOW (halflife=3 weeks)</a:t>
            </a:r>
            <a:endParaRPr lang="en-US" sz="1050" dirty="0"/>
          </a:p>
          <a:p>
            <a:pPr marL="0" indent="0">
              <a:buNone/>
            </a:pPr>
            <a:r>
              <a:rPr lang="en-US" sz="1050" dirty="0">
                <a:solidFill>
                  <a:srgbClr val="666666"/>
                </a:solidFill>
                <a:latin typeface="Arial" pitchFamily="34" charset="0"/>
                <a:ea typeface="Arial" pitchFamily="34" charset="-122"/>
                <a:cs typeface="Arial" pitchFamily="34" charset="-120"/>
              </a:rPr>
              <a:t>6. Half-Month DOW Profile (24×7)</a:t>
            </a:r>
            <a:endParaRPr lang="en-US" sz="1050" dirty="0"/>
          </a:p>
        </p:txBody>
      </p:sp>
      <p:sp>
        <p:nvSpPr>
          <p:cNvPr id="8" name="Shape 6"/>
          <p:cNvSpPr/>
          <p:nvPr/>
        </p:nvSpPr>
        <p:spPr>
          <a:xfrm>
            <a:off x="3236976" y="1005840"/>
            <a:ext cx="2788920" cy="1662332"/>
          </a:xfrm>
          <a:prstGeom prst="rect">
            <a:avLst/>
          </a:prstGeom>
          <a:solidFill>
            <a:srgbClr val="F2F4F7"/>
          </a:solidFill>
          <a:ln/>
        </p:spPr>
        <p:txBody>
          <a:bodyPr/>
          <a:lstStyle/>
          <a:p>
            <a:endParaRPr lang="en-US"/>
          </a:p>
        </p:txBody>
      </p:sp>
      <p:sp>
        <p:nvSpPr>
          <p:cNvPr id="9" name="Shape 7"/>
          <p:cNvSpPr/>
          <p:nvPr/>
        </p:nvSpPr>
        <p:spPr>
          <a:xfrm>
            <a:off x="3246120" y="1005840"/>
            <a:ext cx="45719" cy="1633316"/>
          </a:xfrm>
          <a:prstGeom prst="rect">
            <a:avLst/>
          </a:prstGeom>
          <a:solidFill>
            <a:srgbClr val="2D936C"/>
          </a:solidFill>
          <a:ln/>
        </p:spPr>
        <p:txBody>
          <a:bodyPr/>
          <a:lstStyle/>
          <a:p>
            <a:endParaRPr lang="en-US"/>
          </a:p>
        </p:txBody>
      </p:sp>
      <p:sp>
        <p:nvSpPr>
          <p:cNvPr id="10" name="Text 8"/>
          <p:cNvSpPr/>
          <p:nvPr/>
        </p:nvSpPr>
        <p:spPr>
          <a:xfrm>
            <a:off x="3429000" y="1078992"/>
            <a:ext cx="2468880" cy="292608"/>
          </a:xfrm>
          <a:prstGeom prst="rect">
            <a:avLst/>
          </a:prstGeom>
          <a:noFill/>
          <a:ln/>
        </p:spPr>
        <p:txBody>
          <a:bodyPr wrap="square" lIns="0" tIns="0" rIns="0" bIns="0" rtlCol="0" anchor="ctr"/>
          <a:lstStyle/>
          <a:p>
            <a:pPr marL="0" indent="0">
              <a:buNone/>
            </a:pPr>
            <a:r>
              <a:rPr lang="en-US" sz="1200" b="1" dirty="0">
                <a:solidFill>
                  <a:srgbClr val="1B3A5C"/>
                </a:solidFill>
                <a:latin typeface="Arial" pitchFamily="34" charset="0"/>
                <a:ea typeface="Arial" pitchFamily="34" charset="-122"/>
                <a:cs typeface="Arial" pitchFamily="34" charset="-120"/>
              </a:rPr>
              <a:t>Step 2: Cluster Households</a:t>
            </a:r>
            <a:endParaRPr lang="en-US" sz="1200" dirty="0"/>
          </a:p>
        </p:txBody>
      </p:sp>
      <p:sp>
        <p:nvSpPr>
          <p:cNvPr id="11" name="Text 9"/>
          <p:cNvSpPr/>
          <p:nvPr/>
        </p:nvSpPr>
        <p:spPr>
          <a:xfrm>
            <a:off x="3429000" y="1353312"/>
            <a:ext cx="2468880" cy="841248"/>
          </a:xfrm>
          <a:prstGeom prst="rect">
            <a:avLst/>
          </a:prstGeom>
          <a:noFill/>
          <a:ln/>
        </p:spPr>
        <p:txBody>
          <a:bodyPr wrap="square" lIns="0" tIns="0" rIns="0" bIns="0" rtlCol="0" anchor="t"/>
          <a:lstStyle/>
          <a:p>
            <a:pPr marL="0" indent="0">
              <a:buNone/>
            </a:pPr>
            <a:r>
              <a:rPr lang="en-US" sz="1050" dirty="0">
                <a:solidFill>
                  <a:srgbClr val="666666"/>
                </a:solidFill>
                <a:latin typeface="Arial" pitchFamily="34" charset="0"/>
                <a:ea typeface="Arial" pitchFamily="34" charset="-122"/>
                <a:cs typeface="Arial" pitchFamily="34" charset="-120"/>
              </a:rPr>
              <a:t>Feature-based k-Means on z-normalised</a:t>
            </a:r>
            <a:endParaRPr lang="en-US" sz="1050" dirty="0"/>
          </a:p>
          <a:p>
            <a:pPr marL="0" indent="0">
              <a:buNone/>
            </a:pPr>
            <a:r>
              <a:rPr lang="en-US" sz="1050" dirty="0">
                <a:solidFill>
                  <a:srgbClr val="666666"/>
                </a:solidFill>
                <a:latin typeface="Arial" pitchFamily="34" charset="0"/>
                <a:ea typeface="Arial" pitchFamily="34" charset="-122"/>
                <a:cs typeface="Arial" pitchFamily="34" charset="-120"/>
              </a:rPr>
              <a:t>32 features (monthly means, DOW means,</a:t>
            </a:r>
            <a:endParaRPr lang="en-US" sz="1050" dirty="0"/>
          </a:p>
          <a:p>
            <a:pPr marL="0" indent="0">
              <a:buNone/>
            </a:pPr>
            <a:r>
              <a:rPr lang="en-US" sz="1050" dirty="0">
                <a:solidFill>
                  <a:srgbClr val="666666"/>
                </a:solidFill>
                <a:latin typeface="Arial" pitchFamily="34" charset="0"/>
                <a:ea typeface="Arial" pitchFamily="34" charset="-122"/>
                <a:cs typeface="Arial" pitchFamily="34" charset="-120"/>
              </a:rPr>
              <a:t>autocorrelation, CV, winter/summer ratio)</a:t>
            </a:r>
            <a:endParaRPr lang="en-US" sz="1050" dirty="0"/>
          </a:p>
          <a:p>
            <a:pPr marL="0" indent="0">
              <a:buNone/>
            </a:pPr>
            <a:r>
              <a:rPr lang="en-US" sz="1050" dirty="0">
                <a:solidFill>
                  <a:srgbClr val="666666"/>
                </a:solidFill>
                <a:latin typeface="Arial" pitchFamily="34" charset="0"/>
                <a:ea typeface="Arial" pitchFamily="34" charset="-122"/>
                <a:cs typeface="Arial" pitchFamily="34" charset="-120"/>
              </a:rPr>
              <a:t>k=6, StandardScaler, n_init=10</a:t>
            </a:r>
            <a:endParaRPr lang="en-US" sz="1050" dirty="0"/>
          </a:p>
          <a:p>
            <a:pPr marL="0" indent="0">
              <a:buNone/>
            </a:pPr>
            <a:r>
              <a:rPr lang="en-US" sz="1050" dirty="0">
                <a:solidFill>
                  <a:srgbClr val="666666"/>
                </a:solidFill>
                <a:latin typeface="Arial" pitchFamily="34" charset="0"/>
                <a:ea typeface="Arial" pitchFamily="34" charset="-122"/>
                <a:cs typeface="Arial" pitchFamily="34" charset="-120"/>
              </a:rPr>
              <a:t>Silhouette validated</a:t>
            </a:r>
            <a:endParaRPr lang="en-US" sz="1050" dirty="0"/>
          </a:p>
        </p:txBody>
      </p:sp>
      <p:sp>
        <p:nvSpPr>
          <p:cNvPr id="12" name="Shape 10"/>
          <p:cNvSpPr/>
          <p:nvPr/>
        </p:nvSpPr>
        <p:spPr>
          <a:xfrm>
            <a:off x="6126480" y="1005840"/>
            <a:ext cx="2743200" cy="1633316"/>
          </a:xfrm>
          <a:prstGeom prst="rect">
            <a:avLst/>
          </a:prstGeom>
          <a:solidFill>
            <a:srgbClr val="F2F4F7"/>
          </a:solidFill>
          <a:ln/>
        </p:spPr>
        <p:txBody>
          <a:bodyPr/>
          <a:lstStyle/>
          <a:p>
            <a:endParaRPr lang="en-US"/>
          </a:p>
        </p:txBody>
      </p:sp>
      <p:sp>
        <p:nvSpPr>
          <p:cNvPr id="13" name="Shape 11"/>
          <p:cNvSpPr/>
          <p:nvPr/>
        </p:nvSpPr>
        <p:spPr>
          <a:xfrm>
            <a:off x="6126480" y="1005839"/>
            <a:ext cx="45719" cy="1633316"/>
          </a:xfrm>
          <a:prstGeom prst="rect">
            <a:avLst/>
          </a:prstGeom>
          <a:solidFill>
            <a:srgbClr val="E84855"/>
          </a:solidFill>
          <a:ln/>
        </p:spPr>
        <p:txBody>
          <a:bodyPr/>
          <a:lstStyle/>
          <a:p>
            <a:endParaRPr lang="en-US"/>
          </a:p>
        </p:txBody>
      </p:sp>
      <p:sp>
        <p:nvSpPr>
          <p:cNvPr id="14" name="Text 12"/>
          <p:cNvSpPr/>
          <p:nvPr/>
        </p:nvSpPr>
        <p:spPr>
          <a:xfrm>
            <a:off x="6309360" y="1078992"/>
            <a:ext cx="2468880" cy="292608"/>
          </a:xfrm>
          <a:prstGeom prst="rect">
            <a:avLst/>
          </a:prstGeom>
          <a:noFill/>
          <a:ln/>
        </p:spPr>
        <p:txBody>
          <a:bodyPr wrap="square" lIns="0" tIns="0" rIns="0" bIns="0" rtlCol="0" anchor="ctr"/>
          <a:lstStyle/>
          <a:p>
            <a:pPr marL="0" indent="0">
              <a:buNone/>
            </a:pPr>
            <a:r>
              <a:rPr lang="en-US" sz="1200" b="1" dirty="0">
                <a:solidFill>
                  <a:srgbClr val="1B3A5C"/>
                </a:solidFill>
                <a:latin typeface="Arial" pitchFamily="34" charset="0"/>
                <a:ea typeface="Arial" pitchFamily="34" charset="-122"/>
                <a:cs typeface="Arial" pitchFamily="34" charset="-120"/>
              </a:rPr>
              <a:t>Step 3: Per-Cluster Blend</a:t>
            </a:r>
            <a:endParaRPr lang="en-US" sz="1200" dirty="0"/>
          </a:p>
        </p:txBody>
      </p:sp>
      <p:sp>
        <p:nvSpPr>
          <p:cNvPr id="15" name="Text 13"/>
          <p:cNvSpPr/>
          <p:nvPr/>
        </p:nvSpPr>
        <p:spPr>
          <a:xfrm>
            <a:off x="6309360" y="1353312"/>
            <a:ext cx="2468880" cy="841248"/>
          </a:xfrm>
          <a:prstGeom prst="rect">
            <a:avLst/>
          </a:prstGeom>
          <a:noFill/>
          <a:ln/>
        </p:spPr>
        <p:txBody>
          <a:bodyPr wrap="square" lIns="0" tIns="0" rIns="0" bIns="0" rtlCol="0" anchor="t"/>
          <a:lstStyle/>
          <a:p>
            <a:pPr marL="0" indent="0">
              <a:buNone/>
            </a:pPr>
            <a:r>
              <a:rPr lang="en-US" sz="1050" dirty="0">
                <a:solidFill>
                  <a:srgbClr val="666666"/>
                </a:solidFill>
                <a:latin typeface="Arial" pitchFamily="34" charset="0"/>
                <a:ea typeface="Arial" pitchFamily="34" charset="-122"/>
                <a:cs typeface="Arial" pitchFamily="34" charset="-120"/>
              </a:rPr>
              <a:t>For each cluster: find optimal blend</a:t>
            </a:r>
            <a:endParaRPr lang="en-US" sz="1050" dirty="0"/>
          </a:p>
          <a:p>
            <a:pPr marL="0" indent="0">
              <a:buNone/>
            </a:pPr>
            <a:r>
              <a:rPr lang="en-US" sz="1050" dirty="0">
                <a:solidFill>
                  <a:srgbClr val="666666"/>
                </a:solidFill>
                <a:latin typeface="Arial" pitchFamily="34" charset="0"/>
                <a:ea typeface="Arial" pitchFamily="34" charset="-122"/>
                <a:cs typeface="Arial" pitchFamily="34" charset="-120"/>
              </a:rPr>
              <a:t>weights via Dirichlet random search</a:t>
            </a:r>
            <a:endParaRPr lang="en-US" sz="1050" dirty="0"/>
          </a:p>
          <a:p>
            <a:pPr marL="0" indent="0">
              <a:buNone/>
            </a:pPr>
            <a:r>
              <a:rPr lang="en-US" sz="1050" dirty="0">
                <a:solidFill>
                  <a:srgbClr val="666666"/>
                </a:solidFill>
                <a:latin typeface="Arial" pitchFamily="34" charset="0"/>
                <a:ea typeface="Arial" pitchFamily="34" charset="-122"/>
                <a:cs typeface="Arial" pitchFamily="34" charset="-120"/>
              </a:rPr>
              <a:t>(3,000 iterations per cluster).</a:t>
            </a:r>
            <a:endParaRPr lang="en-US" sz="1050" dirty="0"/>
          </a:p>
          <a:p>
            <a:pPr marL="0" indent="0">
              <a:buNone/>
            </a:pPr>
            <a:r>
              <a:rPr lang="en-US" sz="1050" dirty="0">
                <a:solidFill>
                  <a:srgbClr val="666666"/>
                </a:solidFill>
                <a:latin typeface="Arial" pitchFamily="34" charset="0"/>
                <a:ea typeface="Arial" pitchFamily="34" charset="-122"/>
                <a:cs typeface="Arial" pitchFamily="34" charset="-120"/>
              </a:rPr>
              <a:t>Apply 3-day centred moving average</a:t>
            </a:r>
            <a:endParaRPr lang="en-US" sz="1050" dirty="0"/>
          </a:p>
          <a:p>
            <a:pPr marL="0" indent="0">
              <a:buNone/>
            </a:pPr>
            <a:r>
              <a:rPr lang="en-US" sz="1050" dirty="0">
                <a:solidFill>
                  <a:srgbClr val="666666"/>
                </a:solidFill>
                <a:latin typeface="Arial" pitchFamily="34" charset="0"/>
                <a:ea typeface="Arial" pitchFamily="34" charset="-122"/>
                <a:cs typeface="Arial" pitchFamily="34" charset="-120"/>
              </a:rPr>
              <a:t>smoothing to final predictions.</a:t>
            </a:r>
            <a:endParaRPr lang="en-US" sz="1050" dirty="0"/>
          </a:p>
        </p:txBody>
      </p:sp>
      <p:sp>
        <p:nvSpPr>
          <p:cNvPr id="16" name="Text 14"/>
          <p:cNvSpPr/>
          <p:nvPr/>
        </p:nvSpPr>
        <p:spPr>
          <a:xfrm>
            <a:off x="365760" y="2668172"/>
            <a:ext cx="8229600" cy="274320"/>
          </a:xfrm>
          <a:prstGeom prst="rect">
            <a:avLst/>
          </a:prstGeom>
          <a:noFill/>
          <a:ln/>
        </p:spPr>
        <p:txBody>
          <a:bodyPr wrap="square" rtlCol="0" anchor="ctr"/>
          <a:lstStyle/>
          <a:p>
            <a:pPr marL="0" indent="0">
              <a:buNone/>
            </a:pPr>
            <a:r>
              <a:rPr lang="en-US" sz="1200" b="1" dirty="0">
                <a:solidFill>
                  <a:srgbClr val="1B3A5C"/>
                </a:solidFill>
                <a:latin typeface="Arial" pitchFamily="34" charset="0"/>
                <a:ea typeface="Arial" pitchFamily="34" charset="-122"/>
                <a:cs typeface="Arial" pitchFamily="34" charset="-120"/>
              </a:rPr>
              <a:t>Cluster-specific strategies discovered:</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2011207035"/>
              </p:ext>
            </p:extLst>
          </p:nvPr>
        </p:nvGraphicFramePr>
        <p:xfrm>
          <a:off x="420624" y="3009900"/>
          <a:ext cx="6583680" cy="1661160"/>
        </p:xfrm>
        <a:graphic>
          <a:graphicData uri="http://schemas.openxmlformats.org/drawingml/2006/table">
            <a:tbl>
              <a:tblPr/>
              <a:tblGrid>
                <a:gridCol w="7315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0">
                <a:tc>
                  <a:txBody>
                    <a:bodyPr/>
                    <a:lstStyle/>
                    <a:p>
                      <a:pPr marL="0" indent="0">
                        <a:buNone/>
                      </a:pPr>
                      <a:r>
                        <a:rPr lang="en-US" sz="1000" b="1" dirty="0">
                          <a:solidFill>
                            <a:srgbClr val="FFFFFF"/>
                          </a:solidFill>
                          <a:latin typeface="Arial" pitchFamily="34" charset="0"/>
                          <a:ea typeface="Arial" pitchFamily="34" charset="-122"/>
                          <a:cs typeface="Arial" pitchFamily="34" charset="-120"/>
                        </a:rPr>
                        <a:t>Cluster</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Top Strategy</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Weight</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2nd Strategy</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Weight</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HH Count</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extLst>
                  <a:ext uri="{0D108BD9-81ED-4DB2-BD59-A6C34878D82A}">
                    <a16:rowId xmlns:a16="http://schemas.microsoft.com/office/drawing/2014/main" val="10000"/>
                  </a:ext>
                </a:extLst>
              </a:tr>
              <a:tr h="0">
                <a:tc>
                  <a:txBody>
                    <a:bodyPr/>
                    <a:lstStyle/>
                    <a:p>
                      <a:pPr marL="0" indent="0">
                        <a:buNone/>
                      </a:pPr>
                      <a:r>
                        <a:rPr lang="en-US" sz="950" dirty="0">
                          <a:solidFill>
                            <a:srgbClr val="000000"/>
                          </a:solidFill>
                          <a:latin typeface="Arial" pitchFamily="34" charset="0"/>
                          <a:ea typeface="Arial" pitchFamily="34" charset="-122"/>
                          <a:cs typeface="Arial" pitchFamily="34" charset="-120"/>
                        </a:rPr>
                        <a:t>0</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Exp-Weighted DOW</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44%</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Monthly DOW</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32%</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~2,900</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950" dirty="0">
                          <a:solidFill>
                            <a:srgbClr val="000000"/>
                          </a:solidFill>
                          <a:latin typeface="Arial" pitchFamily="34" charset="0"/>
                          <a:ea typeface="Arial" pitchFamily="34" charset="-122"/>
                          <a:cs typeface="Arial" pitchFamily="34" charset="-120"/>
                        </a:rPr>
                        <a:t>1</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Exp-Weighted DOW</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32%</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Monthly DOW</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29%</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~2,900</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950" dirty="0">
                          <a:solidFill>
                            <a:srgbClr val="000000"/>
                          </a:solidFill>
                          <a:latin typeface="Arial" pitchFamily="34" charset="0"/>
                          <a:ea typeface="Arial" pitchFamily="34" charset="-122"/>
                          <a:cs typeface="Arial" pitchFamily="34" charset="-120"/>
                        </a:rPr>
                        <a:t>2</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Exp-Weighted DOW</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40%</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Monthly DOW</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38%</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~2,900</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950" dirty="0">
                          <a:solidFill>
                            <a:srgbClr val="000000"/>
                          </a:solidFill>
                          <a:latin typeface="Arial" pitchFamily="34" charset="0"/>
                          <a:ea typeface="Arial" pitchFamily="34" charset="-122"/>
                          <a:cs typeface="Arial" pitchFamily="34" charset="-120"/>
                        </a:rPr>
                        <a:t>3</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Monthly DOW</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35%</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Weekly Naive</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26%</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~2,900</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buNone/>
                      </a:pPr>
                      <a:r>
                        <a:rPr lang="en-US" sz="950" dirty="0">
                          <a:solidFill>
                            <a:srgbClr val="000000"/>
                          </a:solidFill>
                          <a:latin typeface="Arial" pitchFamily="34" charset="0"/>
                          <a:ea typeface="Arial" pitchFamily="34" charset="-122"/>
                          <a:cs typeface="Arial" pitchFamily="34" charset="-120"/>
                        </a:rPr>
                        <a:t>4</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Exp-Weighted DOW</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68%</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Seasonal</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12%</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~2,900</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indent="0">
                        <a:buNone/>
                      </a:pPr>
                      <a:r>
                        <a:rPr lang="en-US" sz="950" dirty="0">
                          <a:solidFill>
                            <a:srgbClr val="000000"/>
                          </a:solidFill>
                          <a:latin typeface="Arial" pitchFamily="34" charset="0"/>
                          <a:ea typeface="Arial" pitchFamily="34" charset="-122"/>
                          <a:cs typeface="Arial" pitchFamily="34" charset="-120"/>
                        </a:rPr>
                        <a:t>5</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Weekly Naive</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47%</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Monthly DOW</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23%</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~2,900</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8" name="Text 15"/>
          <p:cNvSpPr/>
          <p:nvPr/>
        </p:nvSpPr>
        <p:spPr>
          <a:xfrm>
            <a:off x="365760" y="4671060"/>
            <a:ext cx="8229600" cy="457200"/>
          </a:xfrm>
          <a:prstGeom prst="rect">
            <a:avLst/>
          </a:prstGeom>
          <a:noFill/>
          <a:ln/>
        </p:spPr>
        <p:txBody>
          <a:bodyPr wrap="square" rtlCol="0" anchor="ctr"/>
          <a:lstStyle/>
          <a:p>
            <a:pPr marL="0" indent="0" algn="ctr">
              <a:buNone/>
            </a:pPr>
            <a:r>
              <a:rPr lang="en-US" sz="1500" b="1" dirty="0">
                <a:solidFill>
                  <a:srgbClr val="2D936C"/>
                </a:solidFill>
                <a:latin typeface="Arial" pitchFamily="34" charset="0"/>
                <a:ea typeface="Arial" pitchFamily="34" charset="-122"/>
                <a:cs typeface="Arial" pitchFamily="34" charset="-120"/>
              </a:rPr>
              <a:t>MAE = 3.186  |  17.5% better than Seasonal Naive  |  4.8% better than best ML</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5C"/>
          </a:solidFill>
          <a:ln/>
        </p:spPr>
        <p:txBody>
          <a:bodyPr/>
          <a:lstStyle/>
          <a:p>
            <a:endParaRPr lang="en-US"/>
          </a:p>
        </p:txBody>
      </p:sp>
      <p:sp>
        <p:nvSpPr>
          <p:cNvPr id="3" name="Text 1"/>
          <p:cNvSpPr/>
          <p:nvPr/>
        </p:nvSpPr>
        <p:spPr>
          <a:xfrm>
            <a:off x="548640" y="91440"/>
            <a:ext cx="8046720" cy="640080"/>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Results: The Full Picture</a:t>
            </a:r>
            <a:endParaRPr lang="en-US" sz="2200" dirty="0"/>
          </a:p>
        </p:txBody>
      </p:sp>
      <p:pic>
        <p:nvPicPr>
          <p:cNvPr id="4" name="Image 0" descr="/home/claude/fig5_progression.png"/>
          <p:cNvPicPr>
            <a:picLocks noChangeAspect="1"/>
          </p:cNvPicPr>
          <p:nvPr/>
        </p:nvPicPr>
        <p:blipFill>
          <a:blip r:embed="rId3"/>
          <a:stretch>
            <a:fillRect/>
          </a:stretch>
        </p:blipFill>
        <p:spPr>
          <a:xfrm>
            <a:off x="274320" y="914400"/>
            <a:ext cx="4754880" cy="2377440"/>
          </a:xfrm>
          <a:prstGeom prst="rect">
            <a:avLst/>
          </a:prstGeom>
        </p:spPr>
      </p:pic>
      <p:pic>
        <p:nvPicPr>
          <p:cNvPr id="5" name="Image 1" descr="/home/claude/fig4_results.png"/>
          <p:cNvPicPr>
            <a:picLocks noChangeAspect="1"/>
          </p:cNvPicPr>
          <p:nvPr/>
        </p:nvPicPr>
        <p:blipFill>
          <a:blip r:embed="rId4"/>
          <a:stretch>
            <a:fillRect/>
          </a:stretch>
        </p:blipFill>
        <p:spPr>
          <a:xfrm>
            <a:off x="4572000" y="914400"/>
            <a:ext cx="4389120" cy="2377440"/>
          </a:xfrm>
          <a:prstGeom prst="rect">
            <a:avLst/>
          </a:prstGeom>
        </p:spPr>
      </p:pic>
      <p:sp>
        <p:nvSpPr>
          <p:cNvPr id="6" name="Text 2"/>
          <p:cNvSpPr/>
          <p:nvPr/>
        </p:nvSpPr>
        <p:spPr>
          <a:xfrm>
            <a:off x="457200" y="3383280"/>
            <a:ext cx="8229600" cy="274320"/>
          </a:xfrm>
          <a:prstGeom prst="rect">
            <a:avLst/>
          </a:prstGeom>
          <a:noFill/>
          <a:ln/>
        </p:spPr>
        <p:txBody>
          <a:bodyPr wrap="square" rtlCol="0" anchor="ctr"/>
          <a:lstStyle/>
          <a:p>
            <a:pPr marL="0" indent="0" algn="ctr">
              <a:buNone/>
            </a:pPr>
            <a:r>
              <a:rPr lang="en-US" sz="1000" i="1" dirty="0">
                <a:solidFill>
                  <a:srgbClr val="666666"/>
                </a:solidFill>
                <a:latin typeface="Arial" pitchFamily="34" charset="0"/>
                <a:ea typeface="Arial" pitchFamily="34" charset="-122"/>
                <a:cs typeface="Arial" pitchFamily="34" charset="-120"/>
              </a:rPr>
              <a:t>Per-household MAE computed over 366 daily predictions, averaged across all 17,547 households.</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673147778"/>
              </p:ext>
            </p:extLst>
          </p:nvPr>
        </p:nvGraphicFramePr>
        <p:xfrm>
          <a:off x="274320" y="3654083"/>
          <a:ext cx="7863840" cy="1463040"/>
        </p:xfrm>
        <a:graphic>
          <a:graphicData uri="http://schemas.openxmlformats.org/drawingml/2006/table">
            <a:tbl>
              <a:tblPr/>
              <a:tblGrid>
                <a:gridCol w="256032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3657600">
                  <a:extLst>
                    <a:ext uri="{9D8B030D-6E8A-4147-A177-3AD203B41FA5}">
                      <a16:colId xmlns:a16="http://schemas.microsoft.com/office/drawing/2014/main" val="20003"/>
                    </a:ext>
                  </a:extLst>
                </a:gridCol>
              </a:tblGrid>
              <a:tr h="0">
                <a:tc>
                  <a:txBody>
                    <a:bodyPr/>
                    <a:lstStyle/>
                    <a:p>
                      <a:pPr marL="0" indent="0">
                        <a:buNone/>
                      </a:pPr>
                      <a:r>
                        <a:rPr lang="en-US" sz="1000" b="1" dirty="0">
                          <a:solidFill>
                            <a:srgbClr val="FFFFFF"/>
                          </a:solidFill>
                          <a:latin typeface="Arial" pitchFamily="34" charset="0"/>
                          <a:ea typeface="Arial" pitchFamily="34" charset="-122"/>
                          <a:cs typeface="Arial" pitchFamily="34" charset="-120"/>
                        </a:rPr>
                        <a:t>Method</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MAE</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vs Baseline</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Key Parameters</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extLst>
                  <a:ext uri="{0D108BD9-81ED-4DB2-BD59-A6C34878D82A}">
                    <a16:rowId xmlns:a16="http://schemas.microsoft.com/office/drawing/2014/main" val="10000"/>
                  </a:ext>
                </a:extLst>
              </a:tr>
              <a:tr h="0">
                <a:tc>
                  <a:txBody>
                    <a:bodyPr/>
                    <a:lstStyle/>
                    <a:p>
                      <a:pPr marL="0" indent="0">
                        <a:buNone/>
                      </a:pPr>
                      <a:r>
                        <a:rPr lang="en-US" sz="1000" dirty="0">
                          <a:solidFill>
                            <a:srgbClr val="000000"/>
                          </a:solidFill>
                          <a:latin typeface="Arial" pitchFamily="34" charset="0"/>
                          <a:ea typeface="Arial" pitchFamily="34" charset="-122"/>
                          <a:cs typeface="Arial" pitchFamily="34" charset="-120"/>
                        </a:rPr>
                        <a:t>Seasonal Naive</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3.860</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Repeat day d of 2023</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000" dirty="0">
                          <a:solidFill>
                            <a:srgbClr val="000000"/>
                          </a:solidFill>
                          <a:latin typeface="Arial" pitchFamily="34" charset="0"/>
                          <a:ea typeface="Arial" pitchFamily="34" charset="-122"/>
                          <a:cs typeface="Arial" pitchFamily="34" charset="-120"/>
                        </a:rPr>
                        <a:t>Weekly Naive</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3.294</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−14.7%</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Last 8 weeks DOW avg, monthly ratio to Dec</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000" dirty="0">
                          <a:solidFill>
                            <a:srgbClr val="000000"/>
                          </a:solidFill>
                          <a:latin typeface="Arial" pitchFamily="34" charset="0"/>
                          <a:ea typeface="Arial" pitchFamily="34" charset="-122"/>
                          <a:cs typeface="Arial" pitchFamily="34" charset="-120"/>
                        </a:rPr>
                        <a:t>Global LightGBM</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3.346</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−13.3%</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47 features, 63 leaves, lr=0.05</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000" dirty="0">
                          <a:solidFill>
                            <a:srgbClr val="000000"/>
                          </a:solidFill>
                          <a:latin typeface="Arial" pitchFamily="34" charset="0"/>
                          <a:ea typeface="Arial" pitchFamily="34" charset="-122"/>
                          <a:cs typeface="Arial" pitchFamily="34" charset="-120"/>
                        </a:rPr>
                        <a:t>Cluster Shape k10 + LightGBM</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3.312</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−14.2%</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Arial" pitchFamily="34" charset="0"/>
                          <a:ea typeface="Arial" pitchFamily="34" charset="-122"/>
                          <a:cs typeface="Arial" pitchFamily="34" charset="-120"/>
                        </a:rPr>
                        <a:t>k=10, z-norm features, DB-selected</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buNone/>
                      </a:pPr>
                      <a:r>
                        <a:rPr lang="en-US" sz="1000" b="1" dirty="0">
                          <a:solidFill>
                            <a:srgbClr val="000000"/>
                          </a:solidFill>
                          <a:latin typeface="Arial" pitchFamily="34" charset="0"/>
                          <a:ea typeface="Arial" pitchFamily="34" charset="-122"/>
                          <a:cs typeface="Arial" pitchFamily="34" charset="-120"/>
                        </a:rPr>
                        <a:t>Per-Cluster Blend + Smooth3</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b="1" dirty="0">
                          <a:solidFill>
                            <a:srgbClr val="000000"/>
                          </a:solidFill>
                          <a:latin typeface="Arial" pitchFamily="34" charset="0"/>
                          <a:ea typeface="Arial" pitchFamily="34" charset="-122"/>
                          <a:cs typeface="Arial" pitchFamily="34" charset="-120"/>
                        </a:rPr>
                        <a:t>3.186</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b="1" dirty="0">
                          <a:solidFill>
                            <a:srgbClr val="000000"/>
                          </a:solidFill>
                          <a:latin typeface="Arial" pitchFamily="34" charset="0"/>
                          <a:ea typeface="Arial" pitchFamily="34" charset="-122"/>
                          <a:cs typeface="Arial" pitchFamily="34" charset="-120"/>
                        </a:rPr>
                        <a:t>−17.5%</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b="1" dirty="0">
                          <a:solidFill>
                            <a:srgbClr val="000000"/>
                          </a:solidFill>
                          <a:latin typeface="Arial" pitchFamily="34" charset="0"/>
                          <a:ea typeface="Arial" pitchFamily="34" charset="-122"/>
                          <a:cs typeface="Arial" pitchFamily="34" charset="-120"/>
                        </a:rPr>
                        <a:t>k=6, 6 naive methods, 3-day smooth</a:t>
                      </a:r>
                      <a:endParaRPr lang="en-US" sz="10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5C"/>
          </a:solidFill>
          <a:ln/>
        </p:spPr>
        <p:txBody>
          <a:bodyPr/>
          <a:lstStyle/>
          <a:p>
            <a:endParaRPr lang="en-US"/>
          </a:p>
        </p:txBody>
      </p:sp>
      <p:sp>
        <p:nvSpPr>
          <p:cNvPr id="3" name="Text 1"/>
          <p:cNvSpPr/>
          <p:nvPr/>
        </p:nvSpPr>
        <p:spPr>
          <a:xfrm>
            <a:off x="548640" y="91440"/>
            <a:ext cx="8046720" cy="640080"/>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Key Takeaways</a:t>
            </a:r>
            <a:endParaRPr lang="en-US" sz="2200" dirty="0"/>
          </a:p>
        </p:txBody>
      </p:sp>
      <p:sp>
        <p:nvSpPr>
          <p:cNvPr id="4" name="Shape 2"/>
          <p:cNvSpPr/>
          <p:nvPr/>
        </p:nvSpPr>
        <p:spPr>
          <a:xfrm>
            <a:off x="365760" y="1005840"/>
            <a:ext cx="4023360" cy="1097280"/>
          </a:xfrm>
          <a:prstGeom prst="rect">
            <a:avLst/>
          </a:prstGeom>
          <a:solidFill>
            <a:srgbClr val="F2F4F7"/>
          </a:solidFill>
          <a:ln/>
        </p:spPr>
        <p:txBody>
          <a:bodyPr/>
          <a:lstStyle/>
          <a:p>
            <a:endParaRPr lang="en-US"/>
          </a:p>
        </p:txBody>
      </p:sp>
      <p:sp>
        <p:nvSpPr>
          <p:cNvPr id="5" name="Shape 3"/>
          <p:cNvSpPr/>
          <p:nvPr/>
        </p:nvSpPr>
        <p:spPr>
          <a:xfrm>
            <a:off x="365760" y="1005840"/>
            <a:ext cx="54864" cy="1097280"/>
          </a:xfrm>
          <a:prstGeom prst="rect">
            <a:avLst/>
          </a:prstGeom>
          <a:solidFill>
            <a:srgbClr val="E84855"/>
          </a:solidFill>
          <a:ln/>
        </p:spPr>
        <p:txBody>
          <a:bodyPr/>
          <a:lstStyle/>
          <a:p>
            <a:endParaRPr lang="en-US"/>
          </a:p>
        </p:txBody>
      </p:sp>
      <p:sp>
        <p:nvSpPr>
          <p:cNvPr id="6" name="Text 4"/>
          <p:cNvSpPr/>
          <p:nvPr/>
        </p:nvSpPr>
        <p:spPr>
          <a:xfrm>
            <a:off x="548640" y="1078992"/>
            <a:ext cx="3749040" cy="292608"/>
          </a:xfrm>
          <a:prstGeom prst="rect">
            <a:avLst/>
          </a:prstGeom>
          <a:noFill/>
          <a:ln/>
        </p:spPr>
        <p:txBody>
          <a:bodyPr wrap="square" lIns="0" tIns="0" rIns="0" bIns="0" rtlCol="0" anchor="ctr"/>
          <a:lstStyle/>
          <a:p>
            <a:pPr marL="0" indent="0">
              <a:buNone/>
            </a:pPr>
            <a:r>
              <a:rPr lang="en-US" sz="1200" b="1" dirty="0">
                <a:solidFill>
                  <a:srgbClr val="1B3A5C"/>
                </a:solidFill>
                <a:latin typeface="Arial" pitchFamily="34" charset="0"/>
                <a:ea typeface="Arial" pitchFamily="34" charset="-122"/>
                <a:cs typeface="Arial" pitchFamily="34" charset="-120"/>
              </a:rPr>
              <a:t>Data Analysis &gt; Model Complexity</a:t>
            </a:r>
            <a:endParaRPr lang="en-US" sz="1200" dirty="0"/>
          </a:p>
        </p:txBody>
      </p:sp>
      <p:sp>
        <p:nvSpPr>
          <p:cNvPr id="7" name="Text 5"/>
          <p:cNvSpPr/>
          <p:nvPr/>
        </p:nvSpPr>
        <p:spPr>
          <a:xfrm>
            <a:off x="548640" y="1353312"/>
            <a:ext cx="3749040" cy="658368"/>
          </a:xfrm>
          <a:prstGeom prst="rect">
            <a:avLst/>
          </a:prstGeom>
          <a:noFill/>
          <a:ln/>
        </p:spPr>
        <p:txBody>
          <a:bodyPr wrap="square" lIns="0" tIns="0" rIns="0" bIns="0" rtlCol="0" anchor="t"/>
          <a:lstStyle/>
          <a:p>
            <a:pPr marL="0" indent="0">
              <a:buNone/>
            </a:pPr>
            <a:r>
              <a:rPr lang="en-US" sz="1050" dirty="0">
                <a:solidFill>
                  <a:srgbClr val="666666"/>
                </a:solidFill>
                <a:latin typeface="Arial" pitchFamily="34" charset="0"/>
                <a:ea typeface="Arial" pitchFamily="34" charset="-122"/>
                <a:cs typeface="Arial" pitchFamily="34" charset="-120"/>
              </a:rPr>
              <a:t>Discovering 0.215 YoY correlation changed everything. Without this insight, we would have spent all effort tuning LightGBM — which can’t fix a data limitation.</a:t>
            </a:r>
            <a:endParaRPr lang="en-US" sz="1050" dirty="0"/>
          </a:p>
        </p:txBody>
      </p:sp>
      <p:sp>
        <p:nvSpPr>
          <p:cNvPr id="8" name="Shape 6"/>
          <p:cNvSpPr/>
          <p:nvPr/>
        </p:nvSpPr>
        <p:spPr>
          <a:xfrm>
            <a:off x="4663440" y="1005840"/>
            <a:ext cx="4114800" cy="1097280"/>
          </a:xfrm>
          <a:prstGeom prst="rect">
            <a:avLst/>
          </a:prstGeom>
          <a:solidFill>
            <a:srgbClr val="F2F4F7"/>
          </a:solidFill>
          <a:ln/>
        </p:spPr>
        <p:txBody>
          <a:bodyPr/>
          <a:lstStyle/>
          <a:p>
            <a:endParaRPr lang="en-US"/>
          </a:p>
        </p:txBody>
      </p:sp>
      <p:sp>
        <p:nvSpPr>
          <p:cNvPr id="9" name="Shape 7"/>
          <p:cNvSpPr/>
          <p:nvPr/>
        </p:nvSpPr>
        <p:spPr>
          <a:xfrm>
            <a:off x="4663440" y="1005840"/>
            <a:ext cx="54864" cy="1097280"/>
          </a:xfrm>
          <a:prstGeom prst="rect">
            <a:avLst/>
          </a:prstGeom>
          <a:solidFill>
            <a:srgbClr val="2D936C"/>
          </a:solidFill>
          <a:ln/>
        </p:spPr>
        <p:txBody>
          <a:bodyPr/>
          <a:lstStyle/>
          <a:p>
            <a:endParaRPr lang="en-US"/>
          </a:p>
        </p:txBody>
      </p:sp>
      <p:sp>
        <p:nvSpPr>
          <p:cNvPr id="10" name="Text 8"/>
          <p:cNvSpPr/>
          <p:nvPr/>
        </p:nvSpPr>
        <p:spPr>
          <a:xfrm>
            <a:off x="4846320" y="1078992"/>
            <a:ext cx="3840480" cy="292608"/>
          </a:xfrm>
          <a:prstGeom prst="rect">
            <a:avLst/>
          </a:prstGeom>
          <a:noFill/>
          <a:ln/>
        </p:spPr>
        <p:txBody>
          <a:bodyPr wrap="square" lIns="0" tIns="0" rIns="0" bIns="0" rtlCol="0" anchor="ctr"/>
          <a:lstStyle/>
          <a:p>
            <a:pPr marL="0" indent="0">
              <a:buNone/>
            </a:pPr>
            <a:r>
              <a:rPr lang="en-US" sz="1200" b="1" dirty="0">
                <a:solidFill>
                  <a:srgbClr val="1B3A5C"/>
                </a:solidFill>
                <a:latin typeface="Arial" pitchFamily="34" charset="0"/>
                <a:ea typeface="Arial" pitchFamily="34" charset="-122"/>
                <a:cs typeface="Arial" pitchFamily="34" charset="-120"/>
              </a:rPr>
              <a:t>Clustering Helps — At Both Levels</a:t>
            </a:r>
            <a:endParaRPr lang="en-US" sz="1200" dirty="0"/>
          </a:p>
        </p:txBody>
      </p:sp>
      <p:sp>
        <p:nvSpPr>
          <p:cNvPr id="11" name="Text 9"/>
          <p:cNvSpPr/>
          <p:nvPr/>
        </p:nvSpPr>
        <p:spPr>
          <a:xfrm>
            <a:off x="4846320" y="1353312"/>
            <a:ext cx="3840480" cy="658368"/>
          </a:xfrm>
          <a:prstGeom prst="rect">
            <a:avLst/>
          </a:prstGeom>
          <a:noFill/>
          <a:ln/>
        </p:spPr>
        <p:txBody>
          <a:bodyPr wrap="square" lIns="0" tIns="0" rIns="0" bIns="0" rtlCol="0" anchor="t"/>
          <a:lstStyle/>
          <a:p>
            <a:pPr marL="0" indent="0">
              <a:buNone/>
            </a:pPr>
            <a:r>
              <a:rPr lang="en-US" sz="1050" dirty="0">
                <a:solidFill>
                  <a:srgbClr val="666666"/>
                </a:solidFill>
                <a:latin typeface="Arial" pitchFamily="34" charset="0"/>
                <a:ea typeface="Arial" pitchFamily="34" charset="-122"/>
                <a:cs typeface="Arial" pitchFamily="34" charset="-120"/>
              </a:rPr>
              <a:t>For ML: Shape k-Means improved LightGBM by 1.02% (3.346→3.312). For naive blends: per-cluster weights improved global blend by 0.7% (3.195→3.186).</a:t>
            </a:r>
            <a:endParaRPr lang="en-US" sz="1050" dirty="0"/>
          </a:p>
        </p:txBody>
      </p:sp>
      <p:sp>
        <p:nvSpPr>
          <p:cNvPr id="12" name="Shape 10"/>
          <p:cNvSpPr/>
          <p:nvPr/>
        </p:nvSpPr>
        <p:spPr>
          <a:xfrm>
            <a:off x="365760" y="2377440"/>
            <a:ext cx="4023360" cy="1097280"/>
          </a:xfrm>
          <a:prstGeom prst="rect">
            <a:avLst/>
          </a:prstGeom>
          <a:solidFill>
            <a:srgbClr val="F2F4F7"/>
          </a:solidFill>
          <a:ln/>
        </p:spPr>
        <p:txBody>
          <a:bodyPr/>
          <a:lstStyle/>
          <a:p>
            <a:endParaRPr lang="en-US"/>
          </a:p>
        </p:txBody>
      </p:sp>
      <p:sp>
        <p:nvSpPr>
          <p:cNvPr id="13" name="Shape 11"/>
          <p:cNvSpPr/>
          <p:nvPr/>
        </p:nvSpPr>
        <p:spPr>
          <a:xfrm>
            <a:off x="365760" y="2377440"/>
            <a:ext cx="54864" cy="1097280"/>
          </a:xfrm>
          <a:prstGeom prst="rect">
            <a:avLst/>
          </a:prstGeom>
          <a:solidFill>
            <a:srgbClr val="2E75B6"/>
          </a:solidFill>
          <a:ln/>
        </p:spPr>
        <p:txBody>
          <a:bodyPr/>
          <a:lstStyle/>
          <a:p>
            <a:endParaRPr lang="en-US"/>
          </a:p>
        </p:txBody>
      </p:sp>
      <p:sp>
        <p:nvSpPr>
          <p:cNvPr id="14" name="Text 12"/>
          <p:cNvSpPr/>
          <p:nvPr/>
        </p:nvSpPr>
        <p:spPr>
          <a:xfrm>
            <a:off x="548640" y="2450592"/>
            <a:ext cx="3749040" cy="292608"/>
          </a:xfrm>
          <a:prstGeom prst="rect">
            <a:avLst/>
          </a:prstGeom>
          <a:noFill/>
          <a:ln/>
        </p:spPr>
        <p:txBody>
          <a:bodyPr wrap="square" lIns="0" tIns="0" rIns="0" bIns="0" rtlCol="0" anchor="ctr"/>
          <a:lstStyle/>
          <a:p>
            <a:pPr marL="0" indent="0">
              <a:buNone/>
            </a:pPr>
            <a:r>
              <a:rPr lang="en-US" sz="1200" b="1" dirty="0">
                <a:solidFill>
                  <a:srgbClr val="1B3A5C"/>
                </a:solidFill>
                <a:latin typeface="Arial" pitchFamily="34" charset="0"/>
                <a:ea typeface="Arial" pitchFamily="34" charset="-122"/>
                <a:cs typeface="Arial" pitchFamily="34" charset="-120"/>
              </a:rPr>
              <a:t>Shape &gt; Scale for Clustering</a:t>
            </a:r>
            <a:endParaRPr lang="en-US" sz="1200" dirty="0"/>
          </a:p>
        </p:txBody>
      </p:sp>
      <p:sp>
        <p:nvSpPr>
          <p:cNvPr id="15" name="Text 13"/>
          <p:cNvSpPr/>
          <p:nvPr/>
        </p:nvSpPr>
        <p:spPr>
          <a:xfrm>
            <a:off x="548640" y="2724912"/>
            <a:ext cx="3749040" cy="658368"/>
          </a:xfrm>
          <a:prstGeom prst="rect">
            <a:avLst/>
          </a:prstGeom>
          <a:noFill/>
          <a:ln/>
        </p:spPr>
        <p:txBody>
          <a:bodyPr wrap="square" lIns="0" tIns="0" rIns="0" bIns="0" rtlCol="0" anchor="t"/>
          <a:lstStyle/>
          <a:p>
            <a:pPr marL="0" indent="0">
              <a:buNone/>
            </a:pPr>
            <a:r>
              <a:rPr lang="en-US" sz="1050" dirty="0">
                <a:solidFill>
                  <a:srgbClr val="666666"/>
                </a:solidFill>
                <a:latin typeface="Arial" pitchFamily="34" charset="0"/>
                <a:ea typeface="Arial" pitchFamily="34" charset="-122"/>
                <a:cs typeface="Arial" pitchFamily="34" charset="-120"/>
              </a:rPr>
              <a:t>Z-normalised features → balanced clusters by seasonal pattern. Raw-scale → one dominant cluster (66%). Confirms k-Shape literature (Paparrizos &amp; Gravano, 2015).</a:t>
            </a:r>
            <a:endParaRPr lang="en-US" sz="1050" dirty="0"/>
          </a:p>
        </p:txBody>
      </p:sp>
      <p:sp>
        <p:nvSpPr>
          <p:cNvPr id="16" name="Shape 14"/>
          <p:cNvSpPr/>
          <p:nvPr/>
        </p:nvSpPr>
        <p:spPr>
          <a:xfrm>
            <a:off x="4663440" y="2377440"/>
            <a:ext cx="4114800" cy="1097280"/>
          </a:xfrm>
          <a:prstGeom prst="rect">
            <a:avLst/>
          </a:prstGeom>
          <a:solidFill>
            <a:srgbClr val="F2F4F7"/>
          </a:solidFill>
          <a:ln/>
        </p:spPr>
        <p:txBody>
          <a:bodyPr/>
          <a:lstStyle/>
          <a:p>
            <a:endParaRPr lang="en-US"/>
          </a:p>
        </p:txBody>
      </p:sp>
      <p:sp>
        <p:nvSpPr>
          <p:cNvPr id="17" name="Shape 15"/>
          <p:cNvSpPr/>
          <p:nvPr/>
        </p:nvSpPr>
        <p:spPr>
          <a:xfrm>
            <a:off x="4663440" y="2377440"/>
            <a:ext cx="54864" cy="1097280"/>
          </a:xfrm>
          <a:prstGeom prst="rect">
            <a:avLst/>
          </a:prstGeom>
          <a:solidFill>
            <a:srgbClr val="1B3A5C"/>
          </a:solidFill>
          <a:ln/>
        </p:spPr>
        <p:txBody>
          <a:bodyPr/>
          <a:lstStyle/>
          <a:p>
            <a:endParaRPr lang="en-US"/>
          </a:p>
        </p:txBody>
      </p:sp>
      <p:sp>
        <p:nvSpPr>
          <p:cNvPr id="18" name="Text 16"/>
          <p:cNvSpPr/>
          <p:nvPr/>
        </p:nvSpPr>
        <p:spPr>
          <a:xfrm>
            <a:off x="4846320" y="2450592"/>
            <a:ext cx="3840480" cy="292608"/>
          </a:xfrm>
          <a:prstGeom prst="rect">
            <a:avLst/>
          </a:prstGeom>
          <a:noFill/>
          <a:ln/>
        </p:spPr>
        <p:txBody>
          <a:bodyPr wrap="square" lIns="0" tIns="0" rIns="0" bIns="0" rtlCol="0" anchor="ctr"/>
          <a:lstStyle/>
          <a:p>
            <a:pPr marL="0" indent="0">
              <a:buNone/>
            </a:pPr>
            <a:r>
              <a:rPr lang="en-US" sz="1200" b="1" dirty="0">
                <a:solidFill>
                  <a:srgbClr val="1B3A5C"/>
                </a:solidFill>
                <a:latin typeface="Arial" pitchFamily="34" charset="0"/>
                <a:ea typeface="Arial" pitchFamily="34" charset="-122"/>
                <a:cs typeface="Arial" pitchFamily="34" charset="-120"/>
              </a:rPr>
              <a:t>Blending Beats Complexity</a:t>
            </a:r>
            <a:endParaRPr lang="en-US" sz="1200" dirty="0"/>
          </a:p>
        </p:txBody>
      </p:sp>
      <p:sp>
        <p:nvSpPr>
          <p:cNvPr id="19" name="Text 17"/>
          <p:cNvSpPr/>
          <p:nvPr/>
        </p:nvSpPr>
        <p:spPr>
          <a:xfrm>
            <a:off x="4846320" y="2724912"/>
            <a:ext cx="3840480" cy="658368"/>
          </a:xfrm>
          <a:prstGeom prst="rect">
            <a:avLst/>
          </a:prstGeom>
          <a:noFill/>
          <a:ln/>
        </p:spPr>
        <p:txBody>
          <a:bodyPr wrap="square" lIns="0" tIns="0" rIns="0" bIns="0" rtlCol="0" anchor="t"/>
          <a:lstStyle/>
          <a:p>
            <a:pPr marL="0" indent="0">
              <a:buNone/>
            </a:pPr>
            <a:r>
              <a:rPr lang="en-US" sz="1050" dirty="0">
                <a:solidFill>
                  <a:srgbClr val="666666"/>
                </a:solidFill>
                <a:latin typeface="Arial" pitchFamily="34" charset="0"/>
                <a:ea typeface="Arial" pitchFamily="34" charset="-122"/>
                <a:cs typeface="Arial" pitchFamily="34" charset="-120"/>
              </a:rPr>
              <a:t>Simple method + simple method + ... = strong method. Different households need different strategies. Clustering reveals which strategy works where.</a:t>
            </a:r>
            <a:endParaRPr lang="en-US" sz="1050" dirty="0"/>
          </a:p>
        </p:txBody>
      </p:sp>
      <p:sp>
        <p:nvSpPr>
          <p:cNvPr id="20" name="Text 18"/>
          <p:cNvSpPr/>
          <p:nvPr/>
        </p:nvSpPr>
        <p:spPr>
          <a:xfrm>
            <a:off x="731520" y="3840480"/>
            <a:ext cx="7680960" cy="640080"/>
          </a:xfrm>
          <a:prstGeom prst="rect">
            <a:avLst/>
          </a:prstGeom>
          <a:noFill/>
          <a:ln/>
        </p:spPr>
        <p:txBody>
          <a:bodyPr wrap="square" rtlCol="0" anchor="ctr"/>
          <a:lstStyle/>
          <a:p>
            <a:pPr marL="0" indent="0" algn="ctr">
              <a:buNone/>
            </a:pPr>
            <a:r>
              <a:rPr lang="en-US" sz="1500" b="1" i="1" dirty="0">
                <a:solidFill>
                  <a:srgbClr val="1B3A5C"/>
                </a:solidFill>
                <a:latin typeface="Arial" pitchFamily="34" charset="0"/>
                <a:ea typeface="Arial" pitchFamily="34" charset="-122"/>
                <a:cs typeface="Arial" pitchFamily="34" charset="-120"/>
              </a:rPr>
              <a:t>Understanding your data’s statistical properties is more impactful than choosing a sophisticated algorithm.</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1B3A5C"/>
        </a:solidFill>
        <a:effectLst/>
      </p:bgPr>
    </p:bg>
    <p:spTree>
      <p:nvGrpSpPr>
        <p:cNvPr id="1" name=""/>
        <p:cNvGrpSpPr/>
        <p:nvPr/>
      </p:nvGrpSpPr>
      <p:grpSpPr>
        <a:xfrm>
          <a:off x="0" y="0"/>
          <a:ext cx="0" cy="0"/>
          <a:chOff x="0" y="0"/>
          <a:chExt cx="0" cy="0"/>
        </a:xfrm>
      </p:grpSpPr>
      <p:sp>
        <p:nvSpPr>
          <p:cNvPr id="2" name="Text 0"/>
          <p:cNvSpPr/>
          <p:nvPr/>
        </p:nvSpPr>
        <p:spPr>
          <a:xfrm>
            <a:off x="731520" y="1371600"/>
            <a:ext cx="7680960" cy="914400"/>
          </a:xfrm>
          <a:prstGeom prst="rect">
            <a:avLst/>
          </a:prstGeom>
          <a:noFill/>
          <a:ln/>
        </p:spPr>
        <p:txBody>
          <a:bodyPr wrap="square" rtlCol="0" anchor="ctr"/>
          <a:lstStyle/>
          <a:p>
            <a:pPr marL="0" indent="0" algn="ctr">
              <a:buNone/>
            </a:pPr>
            <a:r>
              <a:rPr lang="en-US" sz="4400" b="1" dirty="0">
                <a:solidFill>
                  <a:srgbClr val="FFFFFF"/>
                </a:solidFill>
                <a:latin typeface="Arial" pitchFamily="34" charset="0"/>
                <a:ea typeface="Arial" pitchFamily="34" charset="-122"/>
                <a:cs typeface="Arial" pitchFamily="34" charset="-120"/>
              </a:rPr>
              <a:t>Thank You</a:t>
            </a:r>
            <a:endParaRPr lang="en-US" sz="4400" dirty="0"/>
          </a:p>
        </p:txBody>
      </p:sp>
      <p:sp>
        <p:nvSpPr>
          <p:cNvPr id="3" name="Text 1"/>
          <p:cNvSpPr/>
          <p:nvPr/>
        </p:nvSpPr>
        <p:spPr>
          <a:xfrm>
            <a:off x="731520" y="2377440"/>
            <a:ext cx="7680960" cy="640080"/>
          </a:xfrm>
          <a:prstGeom prst="rect">
            <a:avLst/>
          </a:prstGeom>
          <a:noFill/>
          <a:ln/>
        </p:spPr>
        <p:txBody>
          <a:bodyPr wrap="square" rtlCol="0" anchor="ctr"/>
          <a:lstStyle/>
          <a:p>
            <a:pPr marL="0" indent="0" algn="ctr">
              <a:buNone/>
            </a:pPr>
            <a:r>
              <a:rPr lang="en-US" sz="2400" dirty="0">
                <a:solidFill>
                  <a:srgbClr val="D6E4F0"/>
                </a:solidFill>
                <a:latin typeface="Arial" pitchFamily="34" charset="0"/>
                <a:ea typeface="Arial" pitchFamily="34" charset="-122"/>
                <a:cs typeface="Arial" pitchFamily="34" charset="-120"/>
              </a:rPr>
              <a:t>Questions?</a:t>
            </a:r>
            <a:endParaRPr lang="en-US" sz="2400" dirty="0"/>
          </a:p>
        </p:txBody>
      </p:sp>
      <p:sp>
        <p:nvSpPr>
          <p:cNvPr id="4" name="Shape 2"/>
          <p:cNvSpPr/>
          <p:nvPr/>
        </p:nvSpPr>
        <p:spPr>
          <a:xfrm>
            <a:off x="3200400" y="3200400"/>
            <a:ext cx="2743200" cy="27432"/>
          </a:xfrm>
          <a:prstGeom prst="rect">
            <a:avLst/>
          </a:prstGeom>
          <a:solidFill>
            <a:srgbClr val="2E75B6"/>
          </a:solidFill>
          <a:ln/>
        </p:spPr>
        <p:txBody>
          <a:bodyPr/>
          <a:lstStyle/>
          <a:p>
            <a:endParaRPr lang="en-US"/>
          </a:p>
        </p:txBody>
      </p:sp>
      <p:sp>
        <p:nvSpPr>
          <p:cNvPr id="5" name="Text 3"/>
          <p:cNvSpPr/>
          <p:nvPr/>
        </p:nvSpPr>
        <p:spPr>
          <a:xfrm>
            <a:off x="731520" y="3474720"/>
            <a:ext cx="7680960" cy="365760"/>
          </a:xfrm>
          <a:prstGeom prst="rect">
            <a:avLst/>
          </a:prstGeom>
          <a:noFill/>
          <a:ln/>
        </p:spPr>
        <p:txBody>
          <a:bodyPr wrap="square" rtlCol="0" anchor="ctr"/>
          <a:lstStyle/>
          <a:p>
            <a:pPr marL="0" indent="0" algn="ctr">
              <a:buNone/>
            </a:pPr>
            <a:r>
              <a:rPr lang="en-US" sz="1300" dirty="0">
                <a:solidFill>
                  <a:srgbClr val="AABBCC"/>
                </a:solidFill>
                <a:latin typeface="Arial" pitchFamily="34" charset="0"/>
                <a:ea typeface="Arial" pitchFamily="34" charset="-122"/>
                <a:cs typeface="Arial" pitchFamily="34" charset="-120"/>
              </a:rPr>
              <a:t>Code: github.com/[team-repo]</a:t>
            </a:r>
            <a:endParaRPr lang="en-US" sz="1300" dirty="0"/>
          </a:p>
        </p:txBody>
      </p:sp>
      <p:sp>
        <p:nvSpPr>
          <p:cNvPr id="6" name="Text 4"/>
          <p:cNvSpPr/>
          <p:nvPr/>
        </p:nvSpPr>
        <p:spPr>
          <a:xfrm>
            <a:off x="731520" y="3931920"/>
            <a:ext cx="7680960" cy="365760"/>
          </a:xfrm>
          <a:prstGeom prst="rect">
            <a:avLst/>
          </a:prstGeom>
          <a:noFill/>
          <a:ln/>
        </p:spPr>
        <p:txBody>
          <a:bodyPr wrap="square" rtlCol="0" anchor="ctr"/>
          <a:lstStyle/>
          <a:p>
            <a:pPr marL="0" indent="0" algn="ctr">
              <a:buNone/>
            </a:pPr>
            <a:r>
              <a:rPr lang="en-US" sz="1100" dirty="0">
                <a:solidFill>
                  <a:srgbClr val="8899AA"/>
                </a:solidFill>
                <a:latin typeface="Arial" pitchFamily="34" charset="0"/>
                <a:ea typeface="Arial" pitchFamily="34" charset="-122"/>
                <a:cs typeface="Arial" pitchFamily="34" charset="-120"/>
              </a:rPr>
              <a:t>Muhammad Salman Hafeez  •  Mikhalchevskyi Yurii  •  Markschies Benjamin Max</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5C"/>
          </a:solidFill>
          <a:ln/>
        </p:spPr>
        <p:txBody>
          <a:bodyPr/>
          <a:lstStyle/>
          <a:p>
            <a:endParaRPr lang="en-US"/>
          </a:p>
        </p:txBody>
      </p:sp>
      <p:sp>
        <p:nvSpPr>
          <p:cNvPr id="3" name="Text 1"/>
          <p:cNvSpPr/>
          <p:nvPr/>
        </p:nvSpPr>
        <p:spPr>
          <a:xfrm>
            <a:off x="548640" y="91440"/>
            <a:ext cx="8046720" cy="640080"/>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BACKUP: Complete Results Table</a:t>
            </a:r>
            <a:endParaRPr lang="en-US" sz="2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182880" y="960120"/>
          <a:ext cx="6949440" cy="3840480"/>
        </p:xfrm>
        <a:graphic>
          <a:graphicData uri="http://schemas.openxmlformats.org/drawingml/2006/table">
            <a:tbl>
              <a:tblPr/>
              <a:tblGrid>
                <a:gridCol w="310896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256032">
                <a:tc>
                  <a:txBody>
                    <a:bodyPr/>
                    <a:lstStyle/>
                    <a:p>
                      <a:pPr marL="0" indent="0">
                        <a:buNone/>
                      </a:pPr>
                      <a:r>
                        <a:rPr lang="en-US" sz="900" b="1" dirty="0">
                          <a:solidFill>
                            <a:srgbClr val="FFFFFF"/>
                          </a:solidFill>
                          <a:latin typeface="Arial" pitchFamily="34" charset="0"/>
                          <a:ea typeface="Arial" pitchFamily="34" charset="-122"/>
                          <a:cs typeface="Arial" pitchFamily="34" charset="-120"/>
                        </a:rPr>
                        <a:t>Method</a:t>
                      </a:r>
                      <a:endParaRPr lang="en-US" sz="9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c>
                  <a:txBody>
                    <a:bodyPr/>
                    <a:lstStyle/>
                    <a:p>
                      <a:pPr marL="0" indent="0">
                        <a:buNone/>
                      </a:pPr>
                      <a:r>
                        <a:rPr lang="en-US" sz="900" b="1" dirty="0">
                          <a:solidFill>
                            <a:srgbClr val="FFFFFF"/>
                          </a:solidFill>
                          <a:latin typeface="Arial" pitchFamily="34" charset="0"/>
                          <a:ea typeface="Arial" pitchFamily="34" charset="-122"/>
                          <a:cs typeface="Arial" pitchFamily="34" charset="-120"/>
                        </a:rPr>
                        <a:t>MAE</a:t>
                      </a:r>
                      <a:endParaRPr lang="en-US" sz="9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c>
                  <a:txBody>
                    <a:bodyPr/>
                    <a:lstStyle/>
                    <a:p>
                      <a:pPr marL="0" indent="0">
                        <a:buNone/>
                      </a:pPr>
                      <a:r>
                        <a:rPr lang="en-US" sz="900" b="1" dirty="0">
                          <a:solidFill>
                            <a:srgbClr val="FFFFFF"/>
                          </a:solidFill>
                          <a:latin typeface="Arial" pitchFamily="34" charset="0"/>
                          <a:ea typeface="Arial" pitchFamily="34" charset="-122"/>
                          <a:cs typeface="Arial" pitchFamily="34" charset="-120"/>
                        </a:rPr>
                        <a:t>Median</a:t>
                      </a:r>
                      <a:endParaRPr lang="en-US" sz="9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c>
                  <a:txBody>
                    <a:bodyPr/>
                    <a:lstStyle/>
                    <a:p>
                      <a:pPr marL="0" indent="0">
                        <a:buNone/>
                      </a:pPr>
                      <a:r>
                        <a:rPr lang="en-US" sz="900" b="1" dirty="0">
                          <a:solidFill>
                            <a:srgbClr val="FFFFFF"/>
                          </a:solidFill>
                          <a:latin typeface="Arial" pitchFamily="34" charset="0"/>
                          <a:ea typeface="Arial" pitchFamily="34" charset="-122"/>
                          <a:cs typeface="Arial" pitchFamily="34" charset="-120"/>
                        </a:rPr>
                        <a:t>vs SN</a:t>
                      </a:r>
                      <a:endParaRPr lang="en-US" sz="9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c>
                  <a:txBody>
                    <a:bodyPr/>
                    <a:lstStyle/>
                    <a:p>
                      <a:pPr marL="0" indent="0">
                        <a:buNone/>
                      </a:pPr>
                      <a:r>
                        <a:rPr lang="en-US" sz="900" b="1" dirty="0">
                          <a:solidFill>
                            <a:srgbClr val="FFFFFF"/>
                          </a:solidFill>
                          <a:latin typeface="Arial" pitchFamily="34" charset="0"/>
                          <a:ea typeface="Arial" pitchFamily="34" charset="-122"/>
                          <a:cs typeface="Arial" pitchFamily="34" charset="-120"/>
                        </a:rPr>
                        <a:t>Type</a:t>
                      </a:r>
                      <a:endParaRPr lang="en-US" sz="9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extLst>
                  <a:ext uri="{0D108BD9-81ED-4DB2-BD59-A6C34878D82A}">
                    <a16:rowId xmlns:a16="http://schemas.microsoft.com/office/drawing/2014/main" val="10000"/>
                  </a:ext>
                </a:extLst>
              </a:tr>
              <a:tr h="256032">
                <a:tc>
                  <a:txBody>
                    <a:bodyPr/>
                    <a:lstStyle/>
                    <a:p>
                      <a:pPr marL="0" indent="0">
                        <a:buNone/>
                      </a:pPr>
                      <a:r>
                        <a:rPr lang="en-US" sz="950" b="1" dirty="0">
                          <a:solidFill>
                            <a:srgbClr val="000000"/>
                          </a:solidFill>
                          <a:latin typeface="Arial" pitchFamily="34" charset="0"/>
                          <a:ea typeface="Arial" pitchFamily="34" charset="-122"/>
                          <a:cs typeface="Arial" pitchFamily="34" charset="-120"/>
                        </a:rPr>
                        <a:t>Per-Cluster Blend + Smooth3</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b="1" dirty="0">
                          <a:solidFill>
                            <a:srgbClr val="000000"/>
                          </a:solidFill>
                          <a:latin typeface="Arial" pitchFamily="34" charset="0"/>
                          <a:ea typeface="Arial" pitchFamily="34" charset="-122"/>
                          <a:cs typeface="Arial" pitchFamily="34" charset="-120"/>
                        </a:rPr>
                        <a:t>3.186</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2.14</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17.5%</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Cluster + naive</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256032">
                <a:tc>
                  <a:txBody>
                    <a:bodyPr/>
                    <a:lstStyle/>
                    <a:p>
                      <a:pPr marL="0" indent="0">
                        <a:buNone/>
                      </a:pPr>
                      <a:r>
                        <a:rPr lang="en-US" sz="950" dirty="0">
                          <a:solidFill>
                            <a:srgbClr val="000000"/>
                          </a:solidFill>
                          <a:latin typeface="Arial" pitchFamily="34" charset="0"/>
                          <a:ea typeface="Arial" pitchFamily="34" charset="-122"/>
                          <a:cs typeface="Arial" pitchFamily="34" charset="-120"/>
                        </a:rPr>
                        <a:t>Refined 6-Method Blend</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3.195</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2.15</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17.2%</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Global blend</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256032">
                <a:tc>
                  <a:txBody>
                    <a:bodyPr/>
                    <a:lstStyle/>
                    <a:p>
                      <a:pPr marL="0" indent="0">
                        <a:buNone/>
                      </a:pPr>
                      <a:r>
                        <a:rPr lang="en-US" sz="950" dirty="0">
                          <a:solidFill>
                            <a:srgbClr val="000000"/>
                          </a:solidFill>
                          <a:latin typeface="Arial" pitchFamily="34" charset="0"/>
                          <a:ea typeface="Arial" pitchFamily="34" charset="-122"/>
                          <a:cs typeface="Arial" pitchFamily="34" charset="-120"/>
                        </a:rPr>
                        <a:t>Per-Cluster Blend (no smooth)</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3.191</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2.14</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17.3%</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Cluster + naive</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256032">
                <a:tc>
                  <a:txBody>
                    <a:bodyPr/>
                    <a:lstStyle/>
                    <a:p>
                      <a:pPr marL="0" indent="0">
                        <a:buNone/>
                      </a:pPr>
                      <a:r>
                        <a:rPr lang="en-US" sz="950" dirty="0">
                          <a:solidFill>
                            <a:srgbClr val="000000"/>
                          </a:solidFill>
                          <a:latin typeface="Arial" pitchFamily="34" charset="0"/>
                          <a:ea typeface="Arial" pitchFamily="34" charset="-122"/>
                          <a:cs typeface="Arial" pitchFamily="34" charset="-120"/>
                        </a:rPr>
                        <a:t>Optimal Naive Blend (4 methods)</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3.208</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2.11</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16.9%</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Global blend</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256032">
                <a:tc>
                  <a:txBody>
                    <a:bodyPr/>
                    <a:lstStyle/>
                    <a:p>
                      <a:pPr marL="0" indent="0">
                        <a:buNone/>
                      </a:pPr>
                      <a:r>
                        <a:rPr lang="en-US" sz="950" dirty="0">
                          <a:solidFill>
                            <a:srgbClr val="000000"/>
                          </a:solidFill>
                          <a:latin typeface="Arial" pitchFamily="34" charset="0"/>
                          <a:ea typeface="Arial" pitchFamily="34" charset="-122"/>
                          <a:cs typeface="Arial" pitchFamily="34" charset="-120"/>
                        </a:rPr>
                        <a:t>Exp-Weighted DOW (halflife=3)</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3.263</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2.18</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15.5%</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Naive</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r h="256032">
                <a:tc>
                  <a:txBody>
                    <a:bodyPr/>
                    <a:lstStyle/>
                    <a:p>
                      <a:pPr marL="0" indent="0">
                        <a:buNone/>
                      </a:pPr>
                      <a:r>
                        <a:rPr lang="en-US" sz="950" dirty="0">
                          <a:solidFill>
                            <a:srgbClr val="000000"/>
                          </a:solidFill>
                          <a:latin typeface="Arial" pitchFamily="34" charset="0"/>
                          <a:ea typeface="Arial" pitchFamily="34" charset="-122"/>
                          <a:cs typeface="Arial" pitchFamily="34" charset="-120"/>
                        </a:rPr>
                        <a:t>Monthly DOW Profile (12×7)</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3.281</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2.18</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15.0%</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Naive</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6"/>
                  </a:ext>
                </a:extLst>
              </a:tr>
              <a:tr h="256032">
                <a:tc>
                  <a:txBody>
                    <a:bodyPr/>
                    <a:lstStyle/>
                    <a:p>
                      <a:pPr marL="0" indent="0">
                        <a:buNone/>
                      </a:pPr>
                      <a:r>
                        <a:rPr lang="en-US" sz="950" dirty="0">
                          <a:solidFill>
                            <a:srgbClr val="000000"/>
                          </a:solidFill>
                          <a:latin typeface="Arial" pitchFamily="34" charset="0"/>
                          <a:ea typeface="Arial" pitchFamily="34" charset="-122"/>
                          <a:cs typeface="Arial" pitchFamily="34" charset="-120"/>
                        </a:rPr>
                        <a:t>Weekly Naive (8-week, monthly adj)</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3.294</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2.16</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14.7%</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Baseline</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7"/>
                  </a:ext>
                </a:extLst>
              </a:tr>
              <a:tr h="256032">
                <a:tc>
                  <a:txBody>
                    <a:bodyPr/>
                    <a:lstStyle/>
                    <a:p>
                      <a:pPr marL="0" indent="0">
                        <a:buNone/>
                      </a:pPr>
                      <a:r>
                        <a:rPr lang="en-US" sz="950" dirty="0">
                          <a:solidFill>
                            <a:srgbClr val="000000"/>
                          </a:solidFill>
                          <a:latin typeface="Arial" pitchFamily="34" charset="0"/>
                          <a:ea typeface="Arial" pitchFamily="34" charset="-122"/>
                          <a:cs typeface="Arial" pitchFamily="34" charset="-120"/>
                        </a:rPr>
                        <a:t>Cluster Shape k-Means k=10</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3.312</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2.14</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14.2%</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Cluster + ML</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8"/>
                  </a:ext>
                </a:extLst>
              </a:tr>
              <a:tr h="256032">
                <a:tc>
                  <a:txBody>
                    <a:bodyPr/>
                    <a:lstStyle/>
                    <a:p>
                      <a:pPr marL="0" indent="0">
                        <a:buNone/>
                      </a:pPr>
                      <a:r>
                        <a:rPr lang="en-US" sz="950" dirty="0">
                          <a:solidFill>
                            <a:srgbClr val="000000"/>
                          </a:solidFill>
                          <a:latin typeface="Arial" pitchFamily="34" charset="0"/>
                          <a:ea typeface="Arial" pitchFamily="34" charset="-122"/>
                          <a:cs typeface="Arial" pitchFamily="34" charset="-120"/>
                        </a:rPr>
                        <a:t>ML Ensemble (LGBM+XGB+Scaled)</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3.339</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2.16</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13.5%</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ML ensemble</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9"/>
                  </a:ext>
                </a:extLst>
              </a:tr>
              <a:tr h="256032">
                <a:tc>
                  <a:txBody>
                    <a:bodyPr/>
                    <a:lstStyle/>
                    <a:p>
                      <a:pPr marL="0" indent="0">
                        <a:buNone/>
                      </a:pPr>
                      <a:r>
                        <a:rPr lang="en-US" sz="950" dirty="0">
                          <a:solidFill>
                            <a:srgbClr val="000000"/>
                          </a:solidFill>
                          <a:latin typeface="Arial" pitchFamily="34" charset="0"/>
                          <a:ea typeface="Arial" pitchFamily="34" charset="-122"/>
                          <a:cs typeface="Arial" pitchFamily="34" charset="-120"/>
                        </a:rPr>
                        <a:t>Global LightGBM (63 leaves)</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3.346</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2.16</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13.3%</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ML</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0"/>
                  </a:ext>
                </a:extLst>
              </a:tr>
              <a:tr h="256032">
                <a:tc>
                  <a:txBody>
                    <a:bodyPr/>
                    <a:lstStyle/>
                    <a:p>
                      <a:pPr marL="0" indent="0">
                        <a:buNone/>
                      </a:pPr>
                      <a:r>
                        <a:rPr lang="en-US" sz="950" dirty="0">
                          <a:solidFill>
                            <a:srgbClr val="000000"/>
                          </a:solidFill>
                          <a:latin typeface="Arial" pitchFamily="34" charset="0"/>
                          <a:ea typeface="Arial" pitchFamily="34" charset="-122"/>
                          <a:cs typeface="Arial" pitchFamily="34" charset="-120"/>
                        </a:rPr>
                        <a:t>Household-Scaled LightGBM</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3.361</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2.16</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12.9%</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Novel ML</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1"/>
                  </a:ext>
                </a:extLst>
              </a:tr>
              <a:tr h="256032">
                <a:tc>
                  <a:txBody>
                    <a:bodyPr/>
                    <a:lstStyle/>
                    <a:p>
                      <a:pPr marL="0" indent="0">
                        <a:buNone/>
                      </a:pPr>
                      <a:r>
                        <a:rPr lang="en-US" sz="950" dirty="0">
                          <a:solidFill>
                            <a:srgbClr val="000000"/>
                          </a:solidFill>
                          <a:latin typeface="Arial" pitchFamily="34" charset="0"/>
                          <a:ea typeface="Arial" pitchFamily="34" charset="-122"/>
                          <a:cs typeface="Arial" pitchFamily="34" charset="-120"/>
                        </a:rPr>
                        <a:t>Global XGBoost (depth=8)</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3.392</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2.20</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12.1%</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ML</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2"/>
                  </a:ext>
                </a:extLst>
              </a:tr>
              <a:tr h="256032">
                <a:tc>
                  <a:txBody>
                    <a:bodyPr/>
                    <a:lstStyle/>
                    <a:p>
                      <a:pPr marL="0" indent="0">
                        <a:buNone/>
                      </a:pPr>
                      <a:r>
                        <a:rPr lang="en-US" sz="950" dirty="0">
                          <a:solidFill>
                            <a:srgbClr val="000000"/>
                          </a:solidFill>
                          <a:latin typeface="Arial" pitchFamily="34" charset="0"/>
                          <a:ea typeface="Arial" pitchFamily="34" charset="-122"/>
                          <a:cs typeface="Arial" pitchFamily="34" charset="-120"/>
                        </a:rPr>
                        <a:t>DOW-Matched Naive</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3.746</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2.57</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3.0%</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Naive</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3"/>
                  </a:ext>
                </a:extLst>
              </a:tr>
              <a:tr h="256032">
                <a:tc>
                  <a:txBody>
                    <a:bodyPr/>
                    <a:lstStyle/>
                    <a:p>
                      <a:pPr marL="0" indent="0">
                        <a:buNone/>
                      </a:pPr>
                      <a:r>
                        <a:rPr lang="en-US" sz="950" dirty="0">
                          <a:solidFill>
                            <a:srgbClr val="000000"/>
                          </a:solidFill>
                          <a:latin typeface="Arial" pitchFamily="34" charset="0"/>
                          <a:ea typeface="Arial" pitchFamily="34" charset="-122"/>
                          <a:cs typeface="Arial" pitchFamily="34" charset="-120"/>
                        </a:rPr>
                        <a:t>Seasonal Naive</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3.860</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2.66</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0.0%</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Arial" pitchFamily="34" charset="0"/>
                          <a:ea typeface="Arial" pitchFamily="34" charset="-122"/>
                          <a:cs typeface="Arial" pitchFamily="34" charset="-120"/>
                        </a:rPr>
                        <a:t>Baseline</a:t>
                      </a:r>
                      <a:endParaRPr lang="en-US" sz="95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4"/>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5C"/>
          </a:solidFill>
          <a:ln/>
        </p:spPr>
        <p:txBody>
          <a:bodyPr/>
          <a:lstStyle/>
          <a:p>
            <a:endParaRPr lang="en-US"/>
          </a:p>
        </p:txBody>
      </p:sp>
      <p:sp>
        <p:nvSpPr>
          <p:cNvPr id="3" name="Text 1"/>
          <p:cNvSpPr/>
          <p:nvPr/>
        </p:nvSpPr>
        <p:spPr>
          <a:xfrm>
            <a:off x="548640" y="91440"/>
            <a:ext cx="8046720" cy="640080"/>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BACKUP: Feature Engineering &amp; Clustering Details</a:t>
            </a:r>
            <a:endParaRPr lang="en-US" sz="2200" dirty="0"/>
          </a:p>
        </p:txBody>
      </p:sp>
      <p:pic>
        <p:nvPicPr>
          <p:cNvPr id="4" name="Image 0" descr="/home/claude/fig6_features.png"/>
          <p:cNvPicPr>
            <a:picLocks noChangeAspect="1"/>
          </p:cNvPicPr>
          <p:nvPr/>
        </p:nvPicPr>
        <p:blipFill>
          <a:blip r:embed="rId3"/>
          <a:stretch>
            <a:fillRect/>
          </a:stretch>
        </p:blipFill>
        <p:spPr>
          <a:xfrm>
            <a:off x="182880" y="914400"/>
            <a:ext cx="4389120" cy="2194560"/>
          </a:xfrm>
          <a:prstGeom prst="rect">
            <a:avLst/>
          </a:prstGeom>
        </p:spPr>
      </p:pic>
      <p:pic>
        <p:nvPicPr>
          <p:cNvPr id="5" name="Image 1" descr="/home/claude/fig2_clustering_validation.png"/>
          <p:cNvPicPr>
            <a:picLocks noChangeAspect="1"/>
          </p:cNvPicPr>
          <p:nvPr/>
        </p:nvPicPr>
        <p:blipFill>
          <a:blip r:embed="rId4"/>
          <a:stretch>
            <a:fillRect/>
          </a:stretch>
        </p:blipFill>
        <p:spPr>
          <a:xfrm>
            <a:off x="182880" y="3200400"/>
            <a:ext cx="4389120" cy="1463040"/>
          </a:xfrm>
          <a:prstGeom prst="rect">
            <a:avLst/>
          </a:prstGeom>
        </p:spPr>
      </p:pic>
      <p:sp>
        <p:nvSpPr>
          <p:cNvPr id="6" name="Text 2"/>
          <p:cNvSpPr/>
          <p:nvPr/>
        </p:nvSpPr>
        <p:spPr>
          <a:xfrm>
            <a:off x="4754880" y="914400"/>
            <a:ext cx="4114800" cy="274320"/>
          </a:xfrm>
          <a:prstGeom prst="rect">
            <a:avLst/>
          </a:prstGeom>
          <a:noFill/>
          <a:ln/>
        </p:spPr>
        <p:txBody>
          <a:bodyPr wrap="square" rtlCol="0" anchor="ctr"/>
          <a:lstStyle/>
          <a:p>
            <a:pPr marL="0" indent="0">
              <a:buNone/>
            </a:pPr>
            <a:r>
              <a:rPr lang="en-US" sz="1200" b="1" dirty="0">
                <a:solidFill>
                  <a:srgbClr val="1B3A5C"/>
                </a:solidFill>
                <a:latin typeface="Arial" pitchFamily="34" charset="0"/>
                <a:ea typeface="Arial" pitchFamily="34" charset="-122"/>
                <a:cs typeface="Arial" pitchFamily="34" charset="-120"/>
              </a:rPr>
              <a:t>ML Features (47 per observation):</a:t>
            </a:r>
            <a:endParaRPr lang="en-US" sz="1200" dirty="0"/>
          </a:p>
        </p:txBody>
      </p:sp>
      <p:sp>
        <p:nvSpPr>
          <p:cNvPr id="7" name="Text 3"/>
          <p:cNvSpPr/>
          <p:nvPr/>
        </p:nvSpPr>
        <p:spPr>
          <a:xfrm>
            <a:off x="4754880" y="1188720"/>
            <a:ext cx="4114800" cy="1645920"/>
          </a:xfrm>
          <a:prstGeom prst="rect">
            <a:avLst/>
          </a:prstGeom>
          <a:noFill/>
          <a:ln/>
        </p:spPr>
        <p:txBody>
          <a:bodyPr wrap="square" rtlCol="0" anchor="t"/>
          <a:lstStyle/>
          <a:p>
            <a:pPr marL="342900" indent="-342900">
              <a:spcAft>
                <a:spcPts val="400"/>
              </a:spcAft>
              <a:buSzPct val="100000"/>
              <a:buChar char="•"/>
            </a:pPr>
            <a:r>
              <a:rPr lang="en-US" sz="1000" dirty="0">
                <a:solidFill>
                  <a:srgbClr val="1A1A1A"/>
                </a:solidFill>
                <a:latin typeface="Arial" pitchFamily="34" charset="0"/>
                <a:ea typeface="Arial" pitchFamily="34" charset="-122"/>
                <a:cs typeface="Arial" pitchFamily="34" charset="-120"/>
              </a:rPr>
              <a:t>8 temporal: DOW, month, DOY, is_weekend, sin/cos encodings</a:t>
            </a:r>
            <a:endParaRPr lang="en-US" sz="1000" dirty="0"/>
          </a:p>
          <a:p>
            <a:pPr marL="342900" indent="-342900">
              <a:spcAft>
                <a:spcPts val="400"/>
              </a:spcAft>
              <a:buSzPct val="100000"/>
              <a:buChar char="•"/>
            </a:pPr>
            <a:r>
              <a:rPr lang="en-US" sz="1000" dirty="0">
                <a:solidFill>
                  <a:srgbClr val="1A1A1A"/>
                </a:solidFill>
                <a:latin typeface="Arial" pitchFamily="34" charset="0"/>
                <a:ea typeface="Arial" pitchFamily="34" charset="-122"/>
                <a:cs typeface="Arial" pitchFamily="34" charset="-120"/>
              </a:rPr>
              <a:t>8 lags: 1, 2, 3, 7, 14, 28, 90, 365 days</a:t>
            </a:r>
            <a:endParaRPr lang="en-US" sz="1000" dirty="0"/>
          </a:p>
          <a:p>
            <a:pPr marL="342900" indent="-342900">
              <a:spcAft>
                <a:spcPts val="400"/>
              </a:spcAft>
              <a:buSzPct val="100000"/>
              <a:buChar char="•"/>
            </a:pPr>
            <a:r>
              <a:rPr lang="en-US" sz="1000" dirty="0">
                <a:solidFill>
                  <a:srgbClr val="1A1A1A"/>
                </a:solidFill>
                <a:latin typeface="Arial" pitchFamily="34" charset="0"/>
                <a:ea typeface="Arial" pitchFamily="34" charset="-122"/>
                <a:cs typeface="Arial" pitchFamily="34" charset="-120"/>
              </a:rPr>
              <a:t>5 rolling: mean (7,14,30,90d) + std (7d)</a:t>
            </a:r>
            <a:endParaRPr lang="en-US" sz="1000" dirty="0"/>
          </a:p>
          <a:p>
            <a:pPr marL="342900" indent="-342900">
              <a:spcAft>
                <a:spcPts val="400"/>
              </a:spcAft>
              <a:buSzPct val="100000"/>
              <a:buChar char="•"/>
            </a:pPr>
            <a:r>
              <a:rPr lang="en-US" sz="1000" dirty="0">
                <a:solidFill>
                  <a:srgbClr val="1A1A1A"/>
                </a:solidFill>
                <a:latin typeface="Arial" pitchFamily="34" charset="0"/>
                <a:ea typeface="Arial" pitchFamily="34" charset="-122"/>
                <a:cs typeface="Arial" pitchFamily="34" charset="-120"/>
              </a:rPr>
              <a:t>26 household: mean, std, CV, 12 monthly, 7 DOW, winter/summer, trend, we/wd ratio</a:t>
            </a:r>
            <a:endParaRPr lang="en-US" sz="1000" dirty="0"/>
          </a:p>
        </p:txBody>
      </p:sp>
      <p:sp>
        <p:nvSpPr>
          <p:cNvPr id="8" name="Text 4"/>
          <p:cNvSpPr/>
          <p:nvPr/>
        </p:nvSpPr>
        <p:spPr>
          <a:xfrm>
            <a:off x="4754880" y="2926080"/>
            <a:ext cx="4114800" cy="274320"/>
          </a:xfrm>
          <a:prstGeom prst="rect">
            <a:avLst/>
          </a:prstGeom>
          <a:noFill/>
          <a:ln/>
        </p:spPr>
        <p:txBody>
          <a:bodyPr wrap="square" rtlCol="0" anchor="ctr"/>
          <a:lstStyle/>
          <a:p>
            <a:pPr marL="0" indent="0">
              <a:buNone/>
            </a:pPr>
            <a:r>
              <a:rPr lang="en-US" sz="1200" b="1" dirty="0">
                <a:solidFill>
                  <a:srgbClr val="1B3A5C"/>
                </a:solidFill>
                <a:latin typeface="Arial" pitchFamily="34" charset="0"/>
                <a:ea typeface="Arial" pitchFamily="34" charset="-122"/>
                <a:cs typeface="Arial" pitchFamily="34" charset="-120"/>
              </a:rPr>
              <a:t>Clustering Features (32):</a:t>
            </a:r>
            <a:endParaRPr lang="en-US" sz="1200" dirty="0"/>
          </a:p>
        </p:txBody>
      </p:sp>
      <p:sp>
        <p:nvSpPr>
          <p:cNvPr id="9" name="Text 5"/>
          <p:cNvSpPr/>
          <p:nvPr/>
        </p:nvSpPr>
        <p:spPr>
          <a:xfrm>
            <a:off x="4754880" y="3200400"/>
            <a:ext cx="4114800" cy="1645920"/>
          </a:xfrm>
          <a:prstGeom prst="rect">
            <a:avLst/>
          </a:prstGeom>
          <a:noFill/>
          <a:ln/>
        </p:spPr>
        <p:txBody>
          <a:bodyPr wrap="square" rtlCol="0" anchor="t"/>
          <a:lstStyle/>
          <a:p>
            <a:pPr marL="342900" indent="-342900">
              <a:spcAft>
                <a:spcPts val="400"/>
              </a:spcAft>
              <a:buSzPct val="100000"/>
              <a:buChar char="•"/>
            </a:pPr>
            <a:r>
              <a:rPr lang="en-US" sz="1000" dirty="0">
                <a:solidFill>
                  <a:srgbClr val="1A1A1A"/>
                </a:solidFill>
                <a:latin typeface="Arial" pitchFamily="34" charset="0"/>
                <a:ea typeface="Arial" pitchFamily="34" charset="-122"/>
                <a:cs typeface="Arial" pitchFamily="34" charset="-120"/>
              </a:rPr>
              <a:t>12 monthly means + 7 DOW means (z-normalised)</a:t>
            </a:r>
            <a:endParaRPr lang="en-US" sz="1000" dirty="0"/>
          </a:p>
          <a:p>
            <a:pPr marL="342900" indent="-342900">
              <a:spcAft>
                <a:spcPts val="400"/>
              </a:spcAft>
              <a:buSzPct val="100000"/>
              <a:buChar char="•"/>
            </a:pPr>
            <a:r>
              <a:rPr lang="en-US" sz="1000" dirty="0">
                <a:solidFill>
                  <a:srgbClr val="1A1A1A"/>
                </a:solidFill>
                <a:latin typeface="Arial" pitchFamily="34" charset="0"/>
                <a:ea typeface="Arial" pitchFamily="34" charset="-122"/>
                <a:cs typeface="Arial" pitchFamily="34" charset="-120"/>
              </a:rPr>
              <a:t>Mean, std, CV, IQR, skewness</a:t>
            </a:r>
            <a:endParaRPr lang="en-US" sz="1000" dirty="0"/>
          </a:p>
          <a:p>
            <a:pPr marL="342900" indent="-342900">
              <a:spcAft>
                <a:spcPts val="400"/>
              </a:spcAft>
              <a:buSzPct val="100000"/>
              <a:buChar char="•"/>
            </a:pPr>
            <a:r>
              <a:rPr lang="en-US" sz="1000" dirty="0">
                <a:solidFill>
                  <a:srgbClr val="1A1A1A"/>
                </a:solidFill>
                <a:latin typeface="Arial" pitchFamily="34" charset="0"/>
                <a:ea typeface="Arial" pitchFamily="34" charset="-122"/>
                <a:cs typeface="Arial" pitchFamily="34" charset="-120"/>
              </a:rPr>
              <a:t>Winter/summer ratio, spring/autumn ratio</a:t>
            </a:r>
            <a:endParaRPr lang="en-US" sz="1000" dirty="0"/>
          </a:p>
          <a:p>
            <a:pPr marL="342900" indent="-342900">
              <a:spcAft>
                <a:spcPts val="400"/>
              </a:spcAft>
              <a:buSzPct val="100000"/>
              <a:buChar char="•"/>
            </a:pPr>
            <a:r>
              <a:rPr lang="en-US" sz="1000" dirty="0">
                <a:solidFill>
                  <a:srgbClr val="1A1A1A"/>
                </a:solidFill>
                <a:latin typeface="Arial" pitchFamily="34" charset="0"/>
                <a:ea typeface="Arial" pitchFamily="34" charset="-122"/>
                <a:cs typeface="Arial" pitchFamily="34" charset="-120"/>
              </a:rPr>
              <a:t>Autocorrelation lag-1, lag-7, volatility, trend</a:t>
            </a:r>
            <a:endParaRPr lang="en-US" sz="1000" dirty="0"/>
          </a:p>
          <a:p>
            <a:pPr marL="342900" indent="-342900">
              <a:spcAft>
                <a:spcPts val="400"/>
              </a:spcAft>
              <a:buSzPct val="100000"/>
              <a:buChar char="•"/>
            </a:pPr>
            <a:r>
              <a:rPr lang="en-US" sz="1000" dirty="0">
                <a:solidFill>
                  <a:srgbClr val="1A1A1A"/>
                </a:solidFill>
                <a:latin typeface="Arial" pitchFamily="34" charset="0"/>
                <a:ea typeface="Arial" pitchFamily="34" charset="-122"/>
                <a:cs typeface="Arial" pitchFamily="34" charset="-120"/>
              </a:rPr>
              <a:t>StandardScaler → k-Means (n_init=10, max_iter=300)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1268</Words>
  <Application>Microsoft Office PowerPoint</Application>
  <PresentationFormat>On-screen Show (16:9)</PresentationFormat>
  <Paragraphs>290</Paragraphs>
  <Slides>12</Slides>
  <Notes>12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12</vt:i4>
      </vt:variant>
    </vt:vector>
  </HeadingPairs>
  <TitlesOfParts>
    <vt:vector size="14"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Leveraging Clustering for Large-Scale Time Series Forecasting</dc:title>
  <dc:subject>PptxGenJS Presentation</dc:subject>
  <dc:creator>Team - KDD SS 2026</dc:creator>
  <cp:lastModifiedBy>Muhammad Salman Hafeez</cp:lastModifiedBy>
  <cp:revision>7</cp:revision>
  <dcterms:created xsi:type="dcterms:W3CDTF">2026-04-25T22:17:05Z</dcterms:created>
  <dcterms:modified xsi:type="dcterms:W3CDTF">2026-04-25T22:32:14Z</dcterms:modified>
</cp:coreProperties>
</file>